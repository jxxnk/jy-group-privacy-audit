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Lst>
  <p:sldSz cx="12192000" cy="6858000" type="screen16x9"/>
  <p:notesSz cx="6858000" cy="9144000"/>
</p:presentation>
</file>

<file path=ppt/presProps.xml><?xml version="1.0" encoding="utf-8"?>
<p:presentationPr xmlns:p="http://schemas.openxmlformats.org/presentationml/2006/main" xmlns:a="http://schemas.openxmlformats.org/drawing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cSldViewPr>
  </p:slideViewPr>
  <p:notesTextViewPr>
    <p:cViewPr>
      <p:scale>
        <a:sx n="100" d="100"/>
        <a:sy n="100" d="100"/>
      </p:scale>
      <p:origin x="0" y="0"/>
    </p:cViewPr>
  </p:notesTextViewPr>
</p:viewPr>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presProps" Target="presProps.xml"/>
  <Relationship Id="rId11" Type="http://schemas.openxmlformats.org/officeDocument/2006/relationships/viewProps" Target="viewProps.xml"/>
  <Relationship Id="rId12" Type="http://schemas.openxmlformats.org/officeDocument/2006/relationships/tableStyles" Target="tableStyle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endParaRPr lang="ko-K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이 실습은 상담 티켓에 남는 개인정보를 로컬 Zammad 한 대로 본 것입니다. 서버를 여러 대 두지 않은 이유는 범위가 상담 흐름 하나이기 때문입니다. 실제 감사나 인증이 아니고, 가이드 PDF를 결과로 내지 않습니다.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포함은 Retail의 목적 결정, Service의 상담, Vendor의 유지보수입니다. 결제와 배송, 마케팅, 백업 실측은 빼었습니다. 직원은 여섯 명입니다. 고객 수 10명과 9명은 과거 기록이고, 오늘 다시 세지 않았습니다. F-01에서 본 T02는 #52020입니다. #52003은 S04의 정상업무 티켓이라 대상에서 뺐습니다. 재점검이 맞아도 처음의 미흡 판정은 지우지 않습니다.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판정은 네 가지입니다. 워크북 스물네 행을 화면 시험으로 확인했습니다. 과거 v1은 수동 비교이고, 현재 v2는 collect, diff, verify입니다. v2 결과는 active 변경만 보여 줍니다. 공개 화면은 sanitized에 있고 원본은 비공개 폴더에 있습니다. 파기, 위탁 감독, 안전조치와 접근권한은 조문을 적었고 고시 제4조는 비워 두었습니다.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종료된 S05가 #52020을 열었습니다. #52003을 빼 둔 이유는 그 티켓이 S04 정상업무의 다른 인스턴스이기 때문입니다. 계정을 끄고 새 로그인은 막았습니다. active 표도 S05만 바뀌었습니다. 이미 열려 있던 세션은 확인하지 못했으므로 잔여 점수는 넣지 않습니다. Checks C02는 미흡으로 남습니다.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F-02a와 F-02b를 나눈 이유는 제한상담 권한과 조직 공유가 다른 사실이기 때문입니다. 그룹을 걷고 공유를 껐습니다. 목록에서 숨긴 것과 주소로 직접 여는 것을 막은 것은 다릅니다. 직접 주소와 첨부 거부는 확인하지 못했습니다. 공유 설정이 예였던 것이고, 제품 취약점으로 적지 않습니다. 상담 리더와 S02, S01의 제한 권한은 계정 기록에 맞게 유지합니다. 재점검은 적합이고, 처음의 권한과 위탁 점검 기록은 미흡으로 남습니다.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자료 보안으로 본인 티켓은 지워졌습니다. 지운 범위는 그 티켓까지입니다. 참조 티켓 T12와 PC에 받은 사본은 남았고, T15는 대조군으로 보존합니다. 백업은 확인하지 않았습니다. 그래서 재점검은 미흡이고 현재 위험은 9점입니다. T12를 남겨 둔 이유는 잔존 증적을 유지하기 위해서이고, 위험수용으로 연 것은 아닙니다. 다음 결정일은 2026-11-06입니다.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marL="0">
              <a:spcBef>
                <a:spcPts val="40"/>
              </a:spcBef>
              <a:spcAft>
                <a:spcPts val="80"/>
              </a:spcAft>
            </a:pPr>
            <a:r>
              <a:rPr lang="ko-KR" sz="1400" dirty="0">
                <a:solidFill>
                  <a:srgbClr val="243038"/>
                </a:solidFill>
                <a:latin typeface="Malgun Gothic"/>
                <a:ea typeface="Malgun Gothic"/>
                <a:cs typeface="Malgun Gothic"/>
              </a:rPr>
              <a:t>현재 위험은 세 건이 6점이고 F-03만 9점입니다. 확인하지 못한 잔여에는 점수를 넣지 않았습니다. A-03의 다음 보고일은 2026-11-06이고 담당은 S02입니다. 권리 메일과 백업은 미확인입니다. 교육 서명과 수탁 계약 확인도 미흡입니다. main에는 풀 리퀘스트 #3부터 #7의 병합과 태그 v1.0-final이 있다. 보완 브랜치 docs/closeout-deliverables-02는 아직 머지하지 않았다. 다음은 T12를 미리보기 한 건 뒤에만 결정하는 것입니다.</a:t>
            </a:r>
          </a:p>
          <a:p>
            <a:pPr algn="l" marL="0">
              <a:spcBef>
                <a:spcPts val="80"/>
              </a:spcBef>
              <a:spcAft>
                <a:spcPts val="40"/>
              </a:spcAft>
            </a:pPr>
            <a:r>
              <a:rPr lang="ko-KR" sz="1400" b="1" dirty="0">
                <a:solidFill>
                  <a:srgbClr val="1B3A4B"/>
                </a:solidFill>
                <a:latin typeface="Malgun Gothic"/>
                <a:ea typeface="Malgun Gothic"/>
                <a:cs typeface="Malgun Gothic"/>
              </a:rPr>
              <a:t>예상 질문</a:t>
            </a:r>
          </a:p>
          <a:p>
            <a:pPr algn="l" marL="0">
              <a:spcBef>
                <a:spcPts val="20"/>
              </a:spcBef>
              <a:spcAft>
                <a:spcPts val="20"/>
              </a:spcAft>
            </a:pPr>
            <a:r>
              <a:rPr lang="ko-KR" sz="1300" dirty="0">
                <a:solidFill>
                  <a:srgbClr val="243038"/>
                </a:solidFill>
                <a:latin typeface="Malgun Gothic"/>
                <a:ea typeface="Malgun Gothic"/>
                <a:cs typeface="Malgun Gothic"/>
              </a:rPr>
              <a:t>왜 Zammad 한 대인가. 상담 흐름 하나만 범위로 잡았기 때문이다. 재점검이 적합인데 Checks가 미흡인 이유. 재점검은 조치 후이고 Checks는 처음 발견을 유지한다. 고객을 지운 뒤에도 F-03이 미흡인 이유. T12와 로컬 사본이 남았기 때문이다. 수집기를 어떻게 신뢰했는가. v2는 active만 보고, 화면 증적과 대조했다. 백업과 Sessions를 미확인으로 남긴 이유. 범위 밖이거나 화면에서 확인하지 못했다. 실제 기업 감사와 다른 점. 가상 계정이고 실제 신고와 메일이 없으며 인증 결과가 아니다.</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E-F01-B01.png"/><Relationship Id="rId4" Type="http://schemas.openxmlformats.org/officeDocument/2006/relationships/image" Target="../media/E-F01-A01.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E-F02-B01.png"/><Relationship Id="rId4" Type="http://schemas.openxmlformats.org/officeDocument/2006/relationships/image" Target="../media/E-F02-A0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E-F03-B01.png"/><Relationship Id="rId4" Type="http://schemas.openxmlformats.org/officeDocument/2006/relationships/image" Target="../media/E-F03-A0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문제 선택의 배경</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1 / 7 · 가상 실습 · 2026-10-07 · 김준영</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상담 티켓에 이름, 이메일, 문의, 첨부가 남는다.</a:t>
            </a:r>
          </a:p>
          <a:p>
            <a:pPr algn="l" marL="0">
              <a:spcBef>
                <a:spcPts val="80"/>
              </a:spcBef>
              <a:spcAft>
                <a:spcPts val="80"/>
              </a:spcAft>
            </a:pPr>
            <a:r>
              <a:rPr lang="ko-KR" sz="2000" dirty="0">
                <a:solidFill>
                  <a:srgbClr val="243038"/>
                </a:solidFill>
                <a:latin typeface="Malgun Gothic"/>
                <a:ea typeface="Malgun Gothic"/>
                <a:cs typeface="Malgun Gothic"/>
              </a:rPr>
              <a:t>·  범위는 로컬 Zammad 한 대다. 서버를 여러 대로 두지 않았다.</a:t>
            </a:r>
          </a:p>
          <a:p>
            <a:pPr algn="l" marL="0">
              <a:spcBef>
                <a:spcPts val="80"/>
              </a:spcBef>
              <a:spcAft>
                <a:spcPts val="80"/>
              </a:spcAft>
            </a:pPr>
            <a:r>
              <a:rPr lang="ko-KR" sz="2000" dirty="0">
                <a:solidFill>
                  <a:srgbClr val="243038"/>
                </a:solidFill>
                <a:latin typeface="Malgun Gothic"/>
                <a:ea typeface="Malgun Gothic"/>
                <a:cs typeface="Malgun Gothic"/>
              </a:rPr>
              <a:t>·  목적 결정은 Retail, 상담은 Service, 유지보수는 Vendor다.</a:t>
            </a:r>
          </a:p>
          <a:p>
            <a:pPr algn="l" marL="0">
              <a:spcBef>
                <a:spcPts val="80"/>
              </a:spcBef>
              <a:spcAft>
                <a:spcPts val="80"/>
              </a:spcAft>
            </a:pPr>
            <a:r>
              <a:rPr lang="ko-KR" sz="2000" dirty="0">
                <a:solidFill>
                  <a:srgbClr val="243038"/>
                </a:solidFill>
                <a:latin typeface="Malgun Gothic"/>
                <a:ea typeface="Malgun Gothic"/>
                <a:cs typeface="Malgun Gothic"/>
              </a:rPr>
              <a:t>·  이 발표는 실제 기업 감사와 인증이 아니다.</a:t>
            </a:r>
          </a:p>
          <a:p>
            <a:pPr algn="l" marL="0">
              <a:spcBef>
                <a:spcPts val="80"/>
              </a:spcBef>
              <a:spcAft>
                <a:spcPts val="80"/>
              </a:spcAft>
            </a:pPr>
            <a:r>
              <a:rPr lang="ko-KR" sz="2000" dirty="0">
                <a:solidFill>
                  <a:srgbClr val="243038"/>
                </a:solidFill>
                <a:latin typeface="Malgun Gothic"/>
                <a:ea typeface="Malgun Gothic"/>
                <a:cs typeface="Malgun Gothic"/>
              </a:rPr>
              <a:t>·  가이드 PDF는 결과 보고서가 아니다.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고객, 흐름, 범위</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2 / 7 · 포함과 제외</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포함: 상담 목적, 상담 수행, 유지보수 권한.</a:t>
            </a:r>
          </a:p>
          <a:p>
            <a:pPr algn="l" marL="0">
              <a:spcBef>
                <a:spcPts val="80"/>
              </a:spcBef>
              <a:spcAft>
                <a:spcPts val="80"/>
              </a:spcAft>
            </a:pPr>
            <a:r>
              <a:rPr lang="ko-KR" sz="2000" dirty="0">
                <a:solidFill>
                  <a:srgbClr val="243038"/>
                </a:solidFill>
                <a:latin typeface="Malgun Gothic"/>
                <a:ea typeface="Malgun Gothic"/>
                <a:cs typeface="Malgun Gothic"/>
              </a:rPr>
              <a:t>·  제외: 결제, 배송, 마케팅, 백업 복구 실측.</a:t>
            </a:r>
          </a:p>
          <a:p>
            <a:pPr algn="l" marL="0">
              <a:spcBef>
                <a:spcPts val="80"/>
              </a:spcBef>
              <a:spcAft>
                <a:spcPts val="80"/>
              </a:spcAft>
            </a:pPr>
            <a:r>
              <a:rPr lang="ko-KR" sz="2000" dirty="0">
                <a:solidFill>
                  <a:srgbClr val="243038"/>
                </a:solidFill>
                <a:latin typeface="Malgun Gothic"/>
                <a:ea typeface="Malgun Gothic"/>
                <a:cs typeface="Malgun Gothic"/>
              </a:rPr>
              <a:t>·  직원 6명. 과거 기록의 고객 수는 삭제 전 10명, C01 삭제 후 9명이다. 2026-10-22에 다시 실측하지 않았다.</a:t>
            </a:r>
          </a:p>
          <a:p>
            <a:pPr algn="l" marL="0">
              <a:spcBef>
                <a:spcPts val="80"/>
              </a:spcBef>
              <a:spcAft>
                <a:spcPts val="80"/>
              </a:spcAft>
            </a:pPr>
            <a:r>
              <a:rPr lang="ko-KR" sz="2000" dirty="0">
                <a:solidFill>
                  <a:srgbClr val="243038"/>
                </a:solidFill>
                <a:latin typeface="Malgun Gothic"/>
                <a:ea typeface="Malgun Gothic"/>
                <a:cs typeface="Malgun Gothic"/>
              </a:rPr>
              <a:t>·  F-01의 T02는 #52020이고 내부ID는 미확인이다. #52003(id 3)은 S04 정상업무의 다른 티켓이다.</a:t>
            </a:r>
          </a:p>
          <a:p>
            <a:pPr algn="l" marL="0">
              <a:spcBef>
                <a:spcPts val="80"/>
              </a:spcBef>
              <a:spcAft>
                <a:spcPts val="80"/>
              </a:spcAft>
            </a:pPr>
            <a:r>
              <a:rPr lang="ko-KR" sz="2000" dirty="0">
                <a:solidFill>
                  <a:srgbClr val="243038"/>
                </a:solidFill>
                <a:latin typeface="Malgun Gothic"/>
                <a:ea typeface="Malgun Gothic"/>
                <a:cs typeface="Malgun Gothic"/>
              </a:rPr>
              <a:t>·  T11 시험본은 29번 52028. T12는 14번 52014. T15는 17번 52017.</a:t>
            </a:r>
          </a:p>
          <a:p>
            <a:pPr algn="l" marL="0">
              <a:spcBef>
                <a:spcPts val="80"/>
              </a:spcBef>
              <a:spcAft>
                <a:spcPts val="80"/>
              </a:spcAft>
            </a:pPr>
            <a:r>
              <a:rPr lang="ko-KR" sz="2000" dirty="0">
                <a:solidFill>
                  <a:srgbClr val="243038"/>
                </a:solidFill>
                <a:latin typeface="Malgun Gothic"/>
                <a:ea typeface="Malgun Gothic"/>
                <a:cs typeface="Malgun Gothic"/>
              </a:rPr>
              <a:t>·  재점검이 적합이어도 처음의 Checks 미흡은 유지한다.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기준, 방법, 증적</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3 / 7 · 워크북과 화면 시험</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판정은 적합, 미흡, 미확인, 적용 제외다.</a:t>
            </a:r>
          </a:p>
          <a:p>
            <a:pPr algn="l" marL="0">
              <a:spcBef>
                <a:spcPts val="80"/>
              </a:spcBef>
              <a:spcAft>
                <a:spcPts val="80"/>
              </a:spcAft>
            </a:pPr>
            <a:r>
              <a:rPr lang="ko-KR" sz="2000" dirty="0">
                <a:solidFill>
                  <a:srgbClr val="243038"/>
                </a:solidFill>
                <a:latin typeface="Malgun Gothic"/>
                <a:ea typeface="Malgun Gothic"/>
                <a:cs typeface="Malgun Gothic"/>
              </a:rPr>
              <a:t>·  워크북 Checks는 24행이다. 화면 시험은 F-01, F-02a, F-02b, F-03이다.</a:t>
            </a:r>
          </a:p>
          <a:p>
            <a:pPr algn="l" marL="0">
              <a:spcBef>
                <a:spcPts val="80"/>
              </a:spcBef>
              <a:spcAft>
                <a:spcPts val="80"/>
              </a:spcAft>
            </a:pPr>
            <a:r>
              <a:rPr lang="ko-KR" sz="2000" dirty="0">
                <a:solidFill>
                  <a:srgbClr val="243038"/>
                </a:solidFill>
                <a:latin typeface="Malgun Gothic"/>
                <a:ea typeface="Malgun Gothic"/>
                <a:cs typeface="Malgun Gothic"/>
              </a:rPr>
              <a:t>·  과거 v1 수집은 localhost GET과 수동 비교였다. 현재 도구는 v2의 collect, diff, verify다. 이메일은 .example.test다.</a:t>
            </a:r>
          </a:p>
          <a:p>
            <a:pPr algn="l" marL="0">
              <a:spcBef>
                <a:spcPts val="80"/>
              </a:spcBef>
              <a:spcAft>
                <a:spcPts val="80"/>
              </a:spcAft>
            </a:pPr>
            <a:r>
              <a:rPr lang="ko-KR" sz="2000" dirty="0">
                <a:solidFill>
                  <a:srgbClr val="243038"/>
                </a:solidFill>
                <a:latin typeface="Malgun Gothic"/>
                <a:ea typeface="Malgun Gothic"/>
                <a:cs typeface="Malgun Gothic"/>
              </a:rPr>
              <a:t>·  v2가 보는 값은 직원 6명의 active뿐이다. 세션, 그룹, 권한, 법적 적합성은 판정하지 않는다.</a:t>
            </a:r>
          </a:p>
          <a:p>
            <a:pPr algn="l" marL="0">
              <a:spcBef>
                <a:spcPts val="80"/>
              </a:spcBef>
              <a:spcAft>
                <a:spcPts val="80"/>
              </a:spcAft>
            </a:pPr>
            <a:r>
              <a:rPr lang="ko-KR" sz="2000" dirty="0">
                <a:solidFill>
                  <a:srgbClr val="243038"/>
                </a:solidFill>
                <a:latin typeface="Malgun Gothic"/>
                <a:ea typeface="Malgun Gothic"/>
                <a:cs typeface="Malgun Gothic"/>
              </a:rPr>
              <a:t>·  발표 화면에는 evidence/sanitized의 공개 PNG를 넣는다. 원본은 C:\JY-Lab\private-evidence에 둔다.</a:t>
            </a:r>
          </a:p>
          <a:p>
            <a:pPr algn="l" marL="0">
              <a:spcBef>
                <a:spcPts val="80"/>
              </a:spcBef>
              <a:spcAft>
                <a:spcPts val="80"/>
              </a:spcAft>
            </a:pPr>
            <a:r>
              <a:rPr lang="ko-KR" sz="2000" dirty="0">
                <a:solidFill>
                  <a:srgbClr val="243038"/>
                </a:solidFill>
                <a:latin typeface="Malgun Gothic"/>
                <a:ea typeface="Malgun Gothic"/>
                <a:cs typeface="Malgun Gothic"/>
              </a:rPr>
              <a:t>·  법령은 법 제21조 제1항과 제2항, 제26조 제4항과 제5항, 제29조, 영 제30조 제1항 제2호다.</a:t>
            </a:r>
          </a:p>
          <a:p>
            <a:pPr algn="l" marL="0">
              <a:spcBef>
                <a:spcPts val="80"/>
              </a:spcBef>
              <a:spcAft>
                <a:spcPts val="80"/>
              </a:spcAft>
            </a:pPr>
            <a:r>
              <a:rPr lang="ko-KR" sz="2000" dirty="0">
                <a:solidFill>
                  <a:srgbClr val="243038"/>
                </a:solidFill>
                <a:latin typeface="Malgun Gothic"/>
                <a:ea typeface="Malgun Gothic"/>
                <a:cs typeface="Malgun Gothic"/>
              </a:rPr>
              <a:t>·  고시 제4조는 비어 있다. 추측으로 채우지 않았다.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F-01 종료 계정</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4 / 7 · 6점·계획 · R-01 적합 · C02 미흡</a:t>
            </a:r>
          </a:p>
        </p:txBody>
      </p:sp>
      <p:sp>
        <p:nvSpPr>
          <p:cNvPr id="4" name="Body"/>
          <p:cNvSpPr/>
          <p:nvPr/>
        </p:nvSpPr>
        <p:spPr>
          <a:xfrm>
            <a:off x="420000" y="1500000"/>
            <a:ext cx="6400000" cy="4700000"/>
          </a:xfrm>
          <a:prstGeom prst="rect">
            <a:avLst/>
          </a:prstGeom>
          <a:noFill/>
          <a:ln>
            <a:noFill/>
          </a:ln>
        </p:spPr>
        <p:txBody>
          <a:bodyPr wrap="square" lIns="274320" tIns="90000" rIns="274320" bIns="60000" anchor="t"/>
          <a:lstStyle/>
          <a:p>
            <a:pPr algn="l" marL="0">
              <a:spcBef>
                <a:spcPts val="40"/>
              </a:spcBef>
              <a:spcAft>
                <a:spcPts val="40"/>
              </a:spcAft>
            </a:pPr>
            <a:r>
              <a:rPr lang="ko-KR" sz="1500" dirty="0">
                <a:solidFill>
                  <a:srgbClr val="243038"/>
                </a:solidFill>
                <a:latin typeface="Malgun Gothic"/>
                <a:ea typeface="Malgun Gothic"/>
                <a:cs typeface="Malgun Gothic"/>
              </a:rPr>
              <a:t>·  대상은 T02 #52020이다. 내부ID는 미확인이다. #52003(id 3)은 이 시험의 대상이 아니다.</a:t>
            </a:r>
          </a:p>
          <a:p>
            <a:pPr algn="l" marL="0">
              <a:spcBef>
                <a:spcPts val="40"/>
              </a:spcBef>
              <a:spcAft>
                <a:spcPts val="40"/>
              </a:spcAft>
            </a:pPr>
            <a:r>
              <a:rPr lang="ko-KR" sz="1500" dirty="0">
                <a:solidFill>
                  <a:srgbClr val="243038"/>
                </a:solidFill>
                <a:latin typeface="Malgun Gothic"/>
                <a:ea typeface="Malgun Gothic"/>
                <a:cs typeface="Malgun Gothic"/>
              </a:rPr>
              <a:t>·  S05는 종료일 2026-09-14 이후에도 Active였고 #52020을 열람했다.</a:t>
            </a:r>
          </a:p>
          <a:p>
            <a:pPr algn="l" marL="0">
              <a:spcBef>
                <a:spcPts val="40"/>
              </a:spcBef>
              <a:spcAft>
                <a:spcPts val="40"/>
              </a:spcAft>
            </a:pPr>
            <a:r>
              <a:rPr lang="ko-KR" sz="1500" dirty="0">
                <a:solidFill>
                  <a:srgbClr val="243038"/>
                </a:solidFill>
                <a:latin typeface="Malgun Gothic"/>
                <a:ea typeface="Malgun Gothic"/>
                <a:cs typeface="Malgun Gothic"/>
              </a:rPr>
              <a:t>·  조치 A-01: Active=false. 새 로그인을 차단했다. 공개 요약에서 바뀐 값은 S05의 active뿐이다.</a:t>
            </a:r>
          </a:p>
          <a:p>
            <a:pPr algn="l" marL="0">
              <a:spcBef>
                <a:spcPts val="40"/>
              </a:spcBef>
              <a:spcAft>
                <a:spcPts val="40"/>
              </a:spcAft>
            </a:pPr>
            <a:r>
              <a:rPr lang="ko-KR" sz="1500" dirty="0">
                <a:solidFill>
                  <a:srgbClr val="243038"/>
                </a:solidFill>
                <a:latin typeface="Malgun Gothic"/>
                <a:ea typeface="Malgun Gothic"/>
                <a:cs typeface="Malgun Gothic"/>
              </a:rPr>
              <a:t>·  현재 위험은 6점·계획이다. 기존 세션은 미확인이라 잔여 점수를 넣지 않는다.</a:t>
            </a:r>
          </a:p>
          <a:p>
            <a:pPr algn="l" marL="0">
              <a:spcBef>
                <a:spcPts val="40"/>
              </a:spcBef>
              <a:spcAft>
                <a:spcPts val="40"/>
              </a:spcAft>
            </a:pPr>
            <a:r>
              <a:rPr lang="ko-KR" sz="1500" dirty="0">
                <a:solidFill>
                  <a:srgbClr val="243038"/>
                </a:solidFill>
                <a:latin typeface="Malgun Gothic"/>
                <a:ea typeface="Malgun Gothic"/>
                <a:cs typeface="Malgun Gothic"/>
              </a:rPr>
              <a:t>·  재점검 R-01은 적합이다.</a:t>
            </a:r>
          </a:p>
          <a:p>
            <a:pPr algn="l" marL="0">
              <a:spcBef>
                <a:spcPts val="40"/>
              </a:spcBef>
              <a:spcAft>
                <a:spcPts val="40"/>
              </a:spcAft>
            </a:pPr>
            <a:r>
              <a:rPr lang="ko-KR" sz="1500" dirty="0">
                <a:solidFill>
                  <a:srgbClr val="243038"/>
                </a:solidFill>
                <a:latin typeface="Malgun Gothic"/>
                <a:ea typeface="Malgun Gothic"/>
                <a:cs typeface="Malgun Gothic"/>
              </a:rPr>
              <a:t>·  공개 증적: 전 E-F01-B01, 후 E-F01-A01. 관측 시각은 파일에 없다.</a:t>
            </a:r>
          </a:p>
          <a:p>
            <a:pPr algn="l" marL="0">
              <a:spcBef>
                <a:spcPts val="40"/>
              </a:spcBef>
              <a:spcAft>
                <a:spcPts val="40"/>
              </a:spcAft>
            </a:pPr>
            <a:r>
              <a:rPr lang="ko-KR" sz="1500" dirty="0">
                <a:solidFill>
                  <a:srgbClr val="243038"/>
                </a:solidFill>
                <a:latin typeface="Malgun Gothic"/>
                <a:ea typeface="Malgun Gothic"/>
                <a:cs typeface="Malgun Gothic"/>
              </a:rPr>
              <a:t>·  남김: Checks C02는 미흡이다. 기존 Sessions와 외부 토큰 회수는 미확인이다. 근본 기한은 2026-11-06이다.</a:t>
            </a:r>
          </a:p>
        </p:txBody>
      </p:sp>
      <p:pic>
        <p:nvPicPr>
          <p:cNvPr id="10" name="E-F01-B01.png"/>
          <p:cNvPicPr>
            <a:picLocks noChangeAspect="1"/>
          </p:cNvPicPr>
          <p:nvPr/>
        </p:nvPicPr>
        <p:blipFill>
          <a:blip r:embed="rId3"/>
          <a:stretch>
            <a:fillRect/>
          </a:stretch>
        </p:blipFill>
        <p:spPr>
          <a:xfrm>
            <a:off x="7321740" y="1560000"/>
            <a:ext cx="4156519" cy="1869999"/>
          </a:xfrm>
          <a:prstGeom prst="rect">
            <a:avLst/>
          </a:prstGeom>
        </p:spPr>
      </p:pic>
      <p:sp>
        <p:nvSpPr>
          <p:cNvPr id="11" name="Cap0"/>
          <p:cNvSpPr/>
          <p:nvPr/>
        </p:nvSpPr>
        <p:spPr>
          <a:xfrm>
            <a:off x="7050000" y="3429999"/>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전 #52020. 세션은 이 화면 밖</a:t>
            </a:r>
          </a:p>
        </p:txBody>
      </p:sp>
      <p:pic>
        <p:nvPicPr>
          <p:cNvPr id="12" name="E-F01-A01.png"/>
          <p:cNvPicPr>
            <a:picLocks noChangeAspect="1"/>
          </p:cNvPicPr>
          <p:nvPr/>
        </p:nvPicPr>
        <p:blipFill>
          <a:blip r:embed="rId4"/>
          <a:stretch>
            <a:fillRect/>
          </a:stretch>
        </p:blipFill>
        <p:spPr>
          <a:xfrm>
            <a:off x="7372017" y="3930000"/>
            <a:ext cx="4055965" cy="1870000"/>
          </a:xfrm>
          <a:prstGeom prst="rect">
            <a:avLst/>
          </a:prstGeom>
        </p:spPr>
      </p:pic>
      <p:sp>
        <p:nvSpPr>
          <p:cNvPr id="13" name="Cap1"/>
          <p:cNvSpPr/>
          <p:nvPr/>
        </p:nvSpPr>
        <p:spPr>
          <a:xfrm>
            <a:off x="7050000" y="5800000"/>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후 새 로그인 차단. 세션 미확인</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F-02a 제한상담과 F-02b 조직 공유</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5 / 7 · 각 6점·계획 · R-02a, R-02b 적합</a:t>
            </a:r>
          </a:p>
        </p:txBody>
      </p:sp>
      <p:sp>
        <p:nvSpPr>
          <p:cNvPr id="4" name="Body"/>
          <p:cNvSpPr/>
          <p:nvPr/>
        </p:nvSpPr>
        <p:spPr>
          <a:xfrm>
            <a:off x="420000" y="1500000"/>
            <a:ext cx="6400000" cy="4700000"/>
          </a:xfrm>
          <a:prstGeom prst="rect">
            <a:avLst/>
          </a:prstGeom>
          <a:noFill/>
          <a:ln>
            <a:noFill/>
          </a:ln>
        </p:spPr>
        <p:txBody>
          <a:bodyPr wrap="square" lIns="274320" tIns="90000" rIns="274320" bIns="60000" anchor="t"/>
          <a:lstStyle/>
          <a:p>
            <a:pPr algn="l" marL="0">
              <a:spcBef>
                <a:spcPts val="40"/>
              </a:spcBef>
              <a:spcAft>
                <a:spcPts val="40"/>
              </a:spcAft>
            </a:pPr>
            <a:r>
              <a:rPr lang="ko-KR" sz="1500" dirty="0">
                <a:solidFill>
                  <a:srgbClr val="243038"/>
                </a:solidFill>
                <a:latin typeface="Malgun Gothic"/>
                <a:ea typeface="Malgun Gothic"/>
                <a:cs typeface="Malgun Gothic"/>
              </a:rPr>
              <a:t>·  F-02a: S04와 S06이 제한상담 T11, 29번 52028을 열람했다.</a:t>
            </a:r>
          </a:p>
          <a:p>
            <a:pPr algn="l" marL="0">
              <a:spcBef>
                <a:spcPts val="40"/>
              </a:spcBef>
              <a:spcAft>
                <a:spcPts val="40"/>
              </a:spcAft>
            </a:pPr>
            <a:r>
              <a:rPr lang="ko-KR" sz="1500" dirty="0">
                <a:solidFill>
                  <a:srgbClr val="243038"/>
                </a:solidFill>
                <a:latin typeface="Malgun Gothic"/>
                <a:ea typeface="Malgun Gothic"/>
                <a:cs typeface="Malgun Gothic"/>
              </a:rPr>
              <a:t>·  F-02a 조치: S04는 JY-General만, S06은 그룹이 없다. S03 Restricted full과 Accounts의 S02 Restricted, S01 Admin은 유지한다.</a:t>
            </a:r>
          </a:p>
          <a:p>
            <a:pPr algn="l" marL="0">
              <a:spcBef>
                <a:spcPts val="40"/>
              </a:spcBef>
              <a:spcAft>
                <a:spcPts val="40"/>
              </a:spcAft>
            </a:pPr>
            <a:r>
              <a:rPr lang="ko-KR" sz="1500" dirty="0">
                <a:solidFill>
                  <a:srgbClr val="243038"/>
                </a:solidFill>
                <a:latin typeface="Malgun Gothic"/>
                <a:ea typeface="Malgun Gothic"/>
                <a:cs typeface="Malgun Gothic"/>
              </a:rPr>
              <a:t>·  F-02a 한계: 후 T11의 대상과 순서는 미확인이다. S06 차단 후 시험과 S03 후 시험은 미확인이다. E-F02-B02는 조치 전 증적이고 공개 PNG는 없다.</a:t>
            </a:r>
          </a:p>
          <a:p>
            <a:pPr algn="l" marL="0">
              <a:spcBef>
                <a:spcPts val="40"/>
              </a:spcBef>
              <a:spcAft>
                <a:spcPts val="40"/>
              </a:spcAft>
            </a:pPr>
            <a:r>
              <a:rPr lang="ko-KR" sz="1500" dirty="0">
                <a:solidFill>
                  <a:srgbClr val="243038"/>
                </a:solidFill>
                <a:latin typeface="Malgun Gothic"/>
                <a:ea typeface="Malgun Gothic"/>
                <a:cs typeface="Malgun Gothic"/>
              </a:rPr>
              <a:t>·  F-02b: C02가 공유 조직에서 C01의 T01을 열람했다. 조치 후 확인한 것은 목록 숨김이다. 직접 주소와 첨부 거부는 미확인이다.</a:t>
            </a:r>
          </a:p>
          <a:p>
            <a:pPr algn="l" marL="0">
              <a:spcBef>
                <a:spcPts val="40"/>
              </a:spcBef>
              <a:spcAft>
                <a:spcPts val="40"/>
              </a:spcAft>
            </a:pPr>
            <a:r>
              <a:rPr lang="ko-KR" sz="1500" dirty="0">
                <a:solidFill>
                  <a:srgbClr val="243038"/>
                </a:solidFill>
                <a:latin typeface="Malgun Gothic"/>
                <a:ea typeface="Malgun Gothic"/>
                <a:cs typeface="Malgun Gothic"/>
              </a:rPr>
              <a:t>·  현재 위험은 F-02a와 F-02b가 각 6점·계획이다. 두 잔여에는 점수를 넣지 않는다.</a:t>
            </a:r>
          </a:p>
          <a:p>
            <a:pPr algn="l" marL="0">
              <a:spcBef>
                <a:spcPts val="40"/>
              </a:spcBef>
              <a:spcAft>
                <a:spcPts val="40"/>
              </a:spcAft>
            </a:pPr>
            <a:r>
              <a:rPr lang="ko-KR" sz="1500" dirty="0">
                <a:solidFill>
                  <a:srgbClr val="243038"/>
                </a:solidFill>
                <a:latin typeface="Malgun Gothic"/>
                <a:ea typeface="Malgun Gothic"/>
                <a:cs typeface="Malgun Gothic"/>
              </a:rPr>
              <a:t>·  재점검 R-02a와 R-02b는 적합이다.</a:t>
            </a:r>
          </a:p>
          <a:p>
            <a:pPr algn="l" marL="0">
              <a:spcBef>
                <a:spcPts val="40"/>
              </a:spcBef>
              <a:spcAft>
                <a:spcPts val="40"/>
              </a:spcAft>
            </a:pPr>
            <a:r>
              <a:rPr lang="ko-KR" sz="1500" dirty="0">
                <a:solidFill>
                  <a:srgbClr val="243038"/>
                </a:solidFill>
                <a:latin typeface="Malgun Gothic"/>
                <a:ea typeface="Malgun Gothic"/>
                <a:cs typeface="Malgun Gothic"/>
              </a:rPr>
              <a:t>·  공개 증적: 전 E-F02-B01, E-F02-B03. 후 E-F02-A01, E-F02-A02, E-F02-A03. 관측 시각은 파일에 없다.</a:t>
            </a:r>
          </a:p>
          <a:p>
            <a:pPr algn="l" marL="0">
              <a:spcBef>
                <a:spcPts val="40"/>
              </a:spcBef>
              <a:spcAft>
                <a:spcPts val="40"/>
              </a:spcAft>
            </a:pPr>
            <a:r>
              <a:rPr lang="ko-KR" sz="1500" dirty="0">
                <a:solidFill>
                  <a:srgbClr val="243038"/>
                </a:solidFill>
                <a:latin typeface="Malgun Gothic"/>
                <a:ea typeface="Malgun Gothic"/>
                <a:cs typeface="Malgun Gothic"/>
              </a:rPr>
              <a:t>·  남김: C03, C04, D02는 미흡이다. 근본 기한은 2026-11-06이다.</a:t>
            </a:r>
          </a:p>
        </p:txBody>
      </p:sp>
      <p:pic>
        <p:nvPicPr>
          <p:cNvPr id="10" name="E-F02-B01.png"/>
          <p:cNvPicPr>
            <a:picLocks noChangeAspect="1"/>
          </p:cNvPicPr>
          <p:nvPr/>
        </p:nvPicPr>
        <p:blipFill>
          <a:blip r:embed="rId3"/>
          <a:stretch>
            <a:fillRect/>
          </a:stretch>
        </p:blipFill>
        <p:spPr>
          <a:xfrm>
            <a:off x="7365499" y="1560000"/>
            <a:ext cx="4069001" cy="1870000"/>
          </a:xfrm>
          <a:prstGeom prst="rect">
            <a:avLst/>
          </a:prstGeom>
        </p:spPr>
      </p:pic>
      <p:sp>
        <p:nvSpPr>
          <p:cNvPr id="11" name="Cap0"/>
          <p:cNvSpPr/>
          <p:nvPr/>
        </p:nvSpPr>
        <p:spPr>
          <a:xfrm>
            <a:off x="7050000" y="3430000"/>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전 제한상담 열람</a:t>
            </a:r>
          </a:p>
        </p:txBody>
      </p:sp>
      <p:pic>
        <p:nvPicPr>
          <p:cNvPr id="12" name="E-F02-A03.png"/>
          <p:cNvPicPr>
            <a:picLocks noChangeAspect="1"/>
          </p:cNvPicPr>
          <p:nvPr/>
        </p:nvPicPr>
        <p:blipFill>
          <a:blip r:embed="rId4"/>
          <a:stretch>
            <a:fillRect/>
          </a:stretch>
        </p:blipFill>
        <p:spPr>
          <a:xfrm>
            <a:off x="7356220" y="3930000"/>
            <a:ext cx="4087559" cy="1869999"/>
          </a:xfrm>
          <a:prstGeom prst="rect">
            <a:avLst/>
          </a:prstGeom>
        </p:spPr>
      </p:pic>
      <p:sp>
        <p:nvSpPr>
          <p:cNvPr id="13" name="Cap1"/>
          <p:cNvSpPr/>
          <p:nvPr/>
        </p:nvSpPr>
        <p:spPr>
          <a:xfrm>
            <a:off x="7050000" y="5799999"/>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후 목록 숨김. 직접 주소는 미확인</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F-03 파기 범위</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6 / 7 · 9점·우선 · R-03 미흡</a:t>
            </a:r>
          </a:p>
        </p:txBody>
      </p:sp>
      <p:sp>
        <p:nvSpPr>
          <p:cNvPr id="4" name="Body"/>
          <p:cNvSpPr/>
          <p:nvPr/>
        </p:nvSpPr>
        <p:spPr>
          <a:xfrm>
            <a:off x="420000" y="1500000"/>
            <a:ext cx="6400000" cy="4700000"/>
          </a:xfrm>
          <a:prstGeom prst="rect">
            <a:avLst/>
          </a:prstGeom>
          <a:noFill/>
          <a:ln>
            <a:noFill/>
          </a:ln>
        </p:spPr>
        <p:txBody>
          <a:bodyPr wrap="square" lIns="274320" tIns="90000" rIns="274320" bIns="60000" anchor="t"/>
          <a:lstStyle/>
          <a:p>
            <a:pPr algn="l" marL="0">
              <a:spcBef>
                <a:spcPts val="40"/>
              </a:spcBef>
              <a:spcAft>
                <a:spcPts val="40"/>
              </a:spcAft>
            </a:pPr>
            <a:r>
              <a:rPr lang="ko-KR" sz="1500" dirty="0">
                <a:solidFill>
                  <a:srgbClr val="243038"/>
                </a:solidFill>
                <a:latin typeface="Malgun Gothic"/>
                <a:ea typeface="Malgun Gothic"/>
                <a:cs typeface="Malgun Gothic"/>
              </a:rPr>
              <a:t>·  C01 자료 보안으로 T01과 T11은 삭제됐다. E02는 적합이다. 공개 전 화면은 E-F03-B01이다.</a:t>
            </a:r>
          </a:p>
          <a:p>
            <a:pPr algn="l" marL="0">
              <a:spcBef>
                <a:spcPts val="40"/>
              </a:spcBef>
              <a:spcAft>
                <a:spcPts val="40"/>
              </a:spcAft>
            </a:pPr>
            <a:r>
              <a:rPr lang="ko-KR" sz="1500" dirty="0">
                <a:solidFill>
                  <a:srgbClr val="243038"/>
                </a:solidFill>
                <a:latin typeface="Malgun Gothic"/>
                <a:ea typeface="Malgun Gothic"/>
                <a:cs typeface="Malgun Gothic"/>
              </a:rPr>
              <a:t>·  T12 14번 52014 마커는 남았다. 공개 후 화면은 E-F03-A01, E-F03-A02이다.</a:t>
            </a:r>
          </a:p>
          <a:p>
            <a:pPr algn="l" marL="0">
              <a:spcBef>
                <a:spcPts val="40"/>
              </a:spcBef>
              <a:spcAft>
                <a:spcPts val="40"/>
              </a:spcAft>
            </a:pPr>
            <a:r>
              <a:rPr lang="ko-KR" sz="1500" dirty="0">
                <a:solidFill>
                  <a:srgbClr val="243038"/>
                </a:solidFill>
                <a:latin typeface="Malgun Gothic"/>
                <a:ea typeface="Malgun Gothic"/>
                <a:cs typeface="Malgun Gothic"/>
              </a:rPr>
              <a:t>·  로컬 사본 jy-doc02-copy.txt는 관측했다. E-D03-A01의 공개 PNG는 없다.</a:t>
            </a:r>
          </a:p>
          <a:p>
            <a:pPr algn="l" marL="0">
              <a:spcBef>
                <a:spcPts val="40"/>
              </a:spcBef>
              <a:spcAft>
                <a:spcPts val="40"/>
              </a:spcAft>
            </a:pPr>
            <a:r>
              <a:rPr lang="ko-KR" sz="1500" dirty="0">
                <a:solidFill>
                  <a:srgbClr val="243038"/>
                </a:solidFill>
                <a:latin typeface="Malgun Gothic"/>
                <a:ea typeface="Malgun Gothic"/>
                <a:cs typeface="Malgun Gothic"/>
              </a:rPr>
              <a:t>·  T15 17번 52017은 대조군으로 보존한다.</a:t>
            </a:r>
          </a:p>
          <a:p>
            <a:pPr algn="l" marL="0">
              <a:spcBef>
                <a:spcPts val="40"/>
              </a:spcBef>
              <a:spcAft>
                <a:spcPts val="40"/>
              </a:spcAft>
            </a:pPr>
            <a:r>
              <a:rPr lang="ko-KR" sz="1500" dirty="0">
                <a:solidFill>
                  <a:srgbClr val="243038"/>
                </a:solidFill>
                <a:latin typeface="Malgun Gothic"/>
                <a:ea typeface="Malgun Gothic"/>
                <a:cs typeface="Malgun Gothic"/>
              </a:rPr>
              <a:t>·  완료 화면은 다시 보지 않았다. 백업 잔존과 복구는 미확인이라 그 범위에 점수를 넣지 않는다.</a:t>
            </a:r>
          </a:p>
          <a:p>
            <a:pPr algn="l" marL="0">
              <a:spcBef>
                <a:spcPts val="40"/>
              </a:spcBef>
              <a:spcAft>
                <a:spcPts val="40"/>
              </a:spcAft>
            </a:pPr>
            <a:r>
              <a:rPr lang="ko-KR" sz="1500" dirty="0">
                <a:solidFill>
                  <a:srgbClr val="243038"/>
                </a:solidFill>
                <a:latin typeface="Malgun Gothic"/>
                <a:ea typeface="Malgun Gothic"/>
                <a:cs typeface="Malgun Gothic"/>
              </a:rPr>
              <a:t>·  현재 위험은 9점·우선이다. 재점검 R-03은 미흡이다.</a:t>
            </a:r>
          </a:p>
          <a:p>
            <a:pPr algn="l" marL="0">
              <a:spcBef>
                <a:spcPts val="40"/>
              </a:spcBef>
              <a:spcAft>
                <a:spcPts val="40"/>
              </a:spcAft>
            </a:pPr>
            <a:r>
              <a:rPr lang="ko-KR" sz="1500" dirty="0">
                <a:solidFill>
                  <a:srgbClr val="243038"/>
                </a:solidFill>
                <a:latin typeface="Malgun Gothic"/>
                <a:ea typeface="Malgun Gothic"/>
                <a:cs typeface="Malgun Gothic"/>
              </a:rPr>
              <a:t>·  A-03은 2026-10-06 기한이 지났고 미완료다. 새 목표일과 다음 검토일은 2026-11-06이다. 담당은 S02, 실행은 S01이다.</a:t>
            </a:r>
          </a:p>
          <a:p>
            <a:pPr algn="l" marL="0">
              <a:spcBef>
                <a:spcPts val="40"/>
              </a:spcBef>
              <a:spcAft>
                <a:spcPts val="40"/>
              </a:spcAft>
            </a:pPr>
            <a:r>
              <a:rPr lang="ko-KR" sz="1500" dirty="0">
                <a:solidFill>
                  <a:srgbClr val="243038"/>
                </a:solidFill>
                <a:latin typeface="Malgun Gothic"/>
                <a:ea typeface="Malgun Gothic"/>
                <a:cs typeface="Malgun Gothic"/>
              </a:rPr>
              <a:t>·  남김: E03, D03, F04는 미흡이다. T12는 미리보기 없이 삭제하지 않는다.</a:t>
            </a:r>
          </a:p>
        </p:txBody>
      </p:sp>
      <p:pic>
        <p:nvPicPr>
          <p:cNvPr id="10" name="E-F03-B01.png"/>
          <p:cNvPicPr>
            <a:picLocks noChangeAspect="1"/>
          </p:cNvPicPr>
          <p:nvPr/>
        </p:nvPicPr>
        <p:blipFill>
          <a:blip r:embed="rId3"/>
          <a:stretch>
            <a:fillRect/>
          </a:stretch>
        </p:blipFill>
        <p:spPr>
          <a:xfrm>
            <a:off x="7346243" y="1560000"/>
            <a:ext cx="4107514" cy="1870000"/>
          </a:xfrm>
          <a:prstGeom prst="rect">
            <a:avLst/>
          </a:prstGeom>
        </p:spPr>
      </p:pic>
      <p:sp>
        <p:nvSpPr>
          <p:cNvPr id="11" name="Cap0"/>
          <p:cNvSpPr/>
          <p:nvPr/>
        </p:nvSpPr>
        <p:spPr>
          <a:xfrm>
            <a:off x="7050000" y="3430000"/>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삭제 전 미리보기. 완료 화면 아님</a:t>
            </a:r>
          </a:p>
        </p:txBody>
      </p:sp>
      <p:pic>
        <p:nvPicPr>
          <p:cNvPr id="12" name="E-F03-A01.png"/>
          <p:cNvPicPr>
            <a:picLocks noChangeAspect="1"/>
          </p:cNvPicPr>
          <p:nvPr/>
        </p:nvPicPr>
        <p:blipFill>
          <a:blip r:embed="rId4"/>
          <a:stretch>
            <a:fillRect/>
          </a:stretch>
        </p:blipFill>
        <p:spPr>
          <a:xfrm>
            <a:off x="7332647" y="3930000"/>
            <a:ext cx="4134705" cy="1870000"/>
          </a:xfrm>
          <a:prstGeom prst="rect">
            <a:avLst/>
          </a:prstGeom>
        </p:spPr>
      </p:pic>
      <p:sp>
        <p:nvSpPr>
          <p:cNvPr id="13" name="Cap1"/>
          <p:cNvSpPr/>
          <p:nvPr/>
        </p:nvSpPr>
        <p:spPr>
          <a:xfrm>
            <a:off x="7050000" y="5800000"/>
            <a:ext cx="4700000" cy="360000"/>
          </a:xfrm>
          <a:prstGeom prst="rect">
            <a:avLst/>
          </a:prstGeom>
          <a:noFill/>
          <a:ln>
            <a:noFill/>
          </a:ln>
        </p:spPr>
        <p:txBody>
          <a:bodyPr wrap="square" lIns="274320" tIns="90000" rIns="274320" bIns="60000" anchor="ctr"/>
          <a:lstStyle/>
          <a:p>
            <a:pPr algn="ctr" marL="0">
              <a:spcBef>
                <a:spcPts val="0"/>
              </a:spcBef>
              <a:spcAft>
                <a:spcPts val="0"/>
              </a:spcAft>
            </a:pPr>
            <a:r>
              <a:rPr lang="ko-KR" sz="1100" dirty="0">
                <a:solidFill>
                  <a:srgbClr val="5C6B73"/>
                </a:solidFill>
                <a:latin typeface="Malgun Gothic"/>
                <a:ea typeface="Malgun Gothic"/>
                <a:cs typeface="Malgun Gothic"/>
              </a:rPr>
              <a:t>T12 잔존. 백업은 미확인</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980000"/>
          </a:xfrm>
          <a:prstGeom prst="rect">
            <a:avLst/>
          </a:prstGeom>
          <a:solidFill>
            <a:srgbClr val="1B3A4B"/>
          </a:solidFill>
          <a:ln>
            <a:noFill/>
          </a:ln>
        </p:spPr>
        <p:txBody>
          <a:bodyPr wrap="square" lIns="274320" tIns="90000" rIns="274320" bIns="60000" anchor="ctr"/>
          <a:lstStyle/>
          <a:p>
            <a:pPr algn="l" marL="0">
              <a:spcBef>
                <a:spcPts val="0"/>
              </a:spcBef>
              <a:spcAft>
                <a:spcPts val="0"/>
              </a:spcAft>
            </a:pPr>
            <a:r>
              <a:rPr lang="ko-KR" sz="3200" b="1" dirty="0">
                <a:solidFill>
                  <a:srgbClr val="FFFFFF"/>
                </a:solidFill>
                <a:latin typeface="Malgun Gothic"/>
                <a:ea typeface="Malgun Gothic"/>
                <a:cs typeface="Malgun Gothic"/>
              </a:rPr>
              <a:t>결과, 잔여위험, 회고</a:t>
            </a:r>
          </a:p>
        </p:txBody>
      </p:sp>
      <p:sp>
        <p:nvSpPr>
          <p:cNvPr id="3" name="Kicker"/>
          <p:cNvSpPr/>
          <p:nvPr/>
        </p:nvSpPr>
        <p:spPr>
          <a:xfrm>
            <a:off x="420000" y="1080000"/>
            <a:ext cx="11300000" cy="360000"/>
          </a:xfrm>
          <a:prstGeom prst="rect">
            <a:avLst/>
          </a:prstGeom>
          <a:noFill/>
          <a:ln>
            <a:noFill/>
          </a:ln>
        </p:spPr>
        <p:txBody>
          <a:bodyPr wrap="square" lIns="274320" tIns="90000" rIns="274320" bIns="60000" anchor="ctr"/>
          <a:lstStyle/>
          <a:p>
            <a:pPr algn="l" marL="0">
              <a:spcBef>
                <a:spcPts val="0"/>
              </a:spcBef>
              <a:spcAft>
                <a:spcPts val="0"/>
              </a:spcAft>
            </a:pPr>
            <a:r>
              <a:rPr lang="ko-KR" sz="1400" dirty="0">
                <a:solidFill>
                  <a:srgbClr val="5C6B73"/>
                </a:solidFill>
                <a:latin typeface="Malgun Gothic"/>
                <a:ea typeface="Malgun Gothic"/>
                <a:cs typeface="Malgun Gothic"/>
              </a:rPr>
              <a:t>7 / 7 · F-03 9점·우선 · 다음 보고 2026-11-06</a:t>
            </a:r>
          </a:p>
        </p:txBody>
      </p:sp>
      <p:sp>
        <p:nvSpPr>
          <p:cNvPr id="4" name="Body"/>
          <p:cNvSpPr/>
          <p:nvPr/>
        </p:nvSpPr>
        <p:spPr>
          <a:xfrm>
            <a:off x="420000" y="1500000"/>
            <a:ext cx="11300000" cy="4700000"/>
          </a:xfrm>
          <a:prstGeom prst="rect">
            <a:avLst/>
          </a:prstGeom>
          <a:noFill/>
          <a:ln>
            <a:noFill/>
          </a:ln>
        </p:spPr>
        <p:txBody>
          <a:bodyPr wrap="square" lIns="274320" tIns="90000" rIns="274320" bIns="60000" anchor="t"/>
          <a:lstStyle/>
          <a:p>
            <a:pPr algn="l" marL="0">
              <a:spcBef>
                <a:spcPts val="80"/>
              </a:spcBef>
              <a:spcAft>
                <a:spcPts val="80"/>
              </a:spcAft>
            </a:pPr>
            <a:r>
              <a:rPr lang="ko-KR" sz="2000" dirty="0">
                <a:solidFill>
                  <a:srgbClr val="243038"/>
                </a:solidFill>
                <a:latin typeface="Malgun Gothic"/>
                <a:ea typeface="Malgun Gothic"/>
                <a:cs typeface="Malgun Gothic"/>
              </a:rPr>
              <a:t>·  현재 위험: F-01, F-02a, F-02b는 각 6점·계획. F-03은 9점·우선.</a:t>
            </a:r>
          </a:p>
          <a:p>
            <a:pPr algn="l" marL="0">
              <a:spcBef>
                <a:spcPts val="80"/>
              </a:spcBef>
              <a:spcAft>
                <a:spcPts val="80"/>
              </a:spcAft>
            </a:pPr>
            <a:r>
              <a:rPr lang="ko-KR" sz="2000" dirty="0">
                <a:solidFill>
                  <a:srgbClr val="243038"/>
                </a:solidFill>
                <a:latin typeface="Malgun Gothic"/>
                <a:ea typeface="Malgun Gothic"/>
                <a:cs typeface="Malgun Gothic"/>
              </a:rPr>
              <a:t>·  세션, 후 T11 순서, 직접 주소, 완료 화면, 백업처럼 발생이 미확인인 잔여에는 점수를 넣지 않는다.</a:t>
            </a:r>
          </a:p>
          <a:p>
            <a:pPr algn="l" marL="0">
              <a:spcBef>
                <a:spcPts val="80"/>
              </a:spcBef>
              <a:spcAft>
                <a:spcPts val="80"/>
              </a:spcAft>
            </a:pPr>
            <a:r>
              <a:rPr lang="ko-KR" sz="2000" dirty="0">
                <a:solidFill>
                  <a:srgbClr val="243038"/>
                </a:solidFill>
                <a:latin typeface="Malgun Gothic"/>
                <a:ea typeface="Malgun Gothic"/>
                <a:cs typeface="Malgun Gothic"/>
              </a:rPr>
              <a:t>·  A-03은 미완료다. 담당 S02, 실행 S01, 새 목표일과 다음 보고일은 2026-11-06이다.</a:t>
            </a:r>
          </a:p>
          <a:p>
            <a:pPr algn="l" marL="0">
              <a:spcBef>
                <a:spcPts val="80"/>
              </a:spcBef>
              <a:spcAft>
                <a:spcPts val="80"/>
              </a:spcAft>
            </a:pPr>
            <a:r>
              <a:rPr lang="ko-KR" sz="2000" dirty="0">
                <a:solidFill>
                  <a:srgbClr val="243038"/>
                </a:solidFill>
                <a:latin typeface="Malgun Gothic"/>
                <a:ea typeface="Malgun Gothic"/>
                <a:cs typeface="Malgun Gothic"/>
              </a:rPr>
              <a:t>·  추가 작업시간과 자원 견적은 근거가 없어 적지 않는다. 보완통제는 T12와 로컬 사본을 증적으로 유지하는 것이다.</a:t>
            </a:r>
          </a:p>
          <a:p>
            <a:pPr algn="l" marL="0">
              <a:spcBef>
                <a:spcPts val="80"/>
              </a:spcBef>
              <a:spcAft>
                <a:spcPts val="80"/>
              </a:spcAft>
            </a:pPr>
            <a:r>
              <a:rPr lang="ko-KR" sz="2000" dirty="0">
                <a:solidFill>
                  <a:srgbClr val="243038"/>
                </a:solidFill>
                <a:latin typeface="Malgun Gothic"/>
                <a:ea typeface="Malgun Gothic"/>
                <a:cs typeface="Malgun Gothic"/>
              </a:rPr>
              <a:t>·  미확인: B04 권리 메일, E04 백업. 모의 기록은 실제 발송이 아니다.</a:t>
            </a:r>
          </a:p>
          <a:p>
            <a:pPr algn="l" marL="0">
              <a:spcBef>
                <a:spcPts val="80"/>
              </a:spcBef>
              <a:spcAft>
                <a:spcPts val="80"/>
              </a:spcAft>
            </a:pPr>
            <a:r>
              <a:rPr lang="ko-KR" sz="2000" dirty="0">
                <a:solidFill>
                  <a:srgbClr val="243038"/>
                </a:solidFill>
                <a:latin typeface="Malgun Gothic"/>
                <a:ea typeface="Malgun Gothic"/>
                <a:cs typeface="Malgun Gothic"/>
              </a:rPr>
              <a:t>·  적용 제외: F03. 외부 AI에 연결하지 않았다.</a:t>
            </a:r>
          </a:p>
          <a:p>
            <a:pPr algn="l" marL="0">
              <a:spcBef>
                <a:spcPts val="80"/>
              </a:spcBef>
              <a:spcAft>
                <a:spcPts val="80"/>
              </a:spcAft>
            </a:pPr>
            <a:r>
              <a:rPr lang="ko-KR" sz="2000" dirty="0">
                <a:solidFill>
                  <a:srgbClr val="243038"/>
                </a:solidFill>
                <a:latin typeface="Malgun Gothic"/>
                <a:ea typeface="Malgun Gothic"/>
                <a:cs typeface="Malgun Gothic"/>
              </a:rPr>
              <a:t>·  D01 수탁 계약 문서 미확인, D04 교육 서명 없음은 미흡이다. 양식과 교육 1쪽은 있다.</a:t>
            </a:r>
          </a:p>
          <a:p>
            <a:pPr algn="l" marL="0">
              <a:spcBef>
                <a:spcPts val="80"/>
              </a:spcBef>
              <a:spcAft>
                <a:spcPts val="80"/>
              </a:spcAft>
            </a:pPr>
            <a:r>
              <a:rPr lang="ko-KR" sz="2000" dirty="0">
                <a:solidFill>
                  <a:srgbClr val="243038"/>
                </a:solidFill>
                <a:latin typeface="Malgun Gothic"/>
                <a:ea typeface="Malgun Gothic"/>
                <a:cs typeface="Malgun Gothic"/>
              </a:rPr>
              <a:t>·  main 35b7b85에는 태그 v1.0-final이 있다. 보완 브랜치 docs/closeout-deliverables-02는 아직 머지하지 않았다.</a:t>
            </a:r>
          </a:p>
          <a:p>
            <a:pPr algn="l" marL="0">
              <a:spcBef>
                <a:spcPts val="80"/>
              </a:spcBef>
              <a:spcAft>
                <a:spcPts val="80"/>
              </a:spcAft>
            </a:pPr>
            <a:r>
              <a:rPr lang="ko-KR" sz="2000" dirty="0">
                <a:solidFill>
                  <a:srgbClr val="243038"/>
                </a:solidFill>
                <a:latin typeface="Malgun Gothic"/>
                <a:ea typeface="Malgun Gothic"/>
                <a:cs typeface="Malgun Gothic"/>
              </a:rPr>
              <a:t>·  다음: T12는 Scheduler 미리보기 1건 뒤에만 결정한다. down -v 는 하지 않는다.</a:t>
            </a:r>
          </a:p>
        </p:txBody>
      </p:sp>
      <p:sp>
        <p:nvSpPr>
          <p:cNvPr id="5" name="Footer"/>
          <p:cNvSpPr/>
          <p:nvPr/>
        </p:nvSpPr>
        <p:spPr>
          <a:xfrm>
            <a:off x="0" y="6400000"/>
            <a:ext cx="12192000" cy="458000"/>
          </a:xfrm>
          <a:prstGeom prst="rect">
            <a:avLst/>
          </a:prstGeom>
          <a:solidFill>
            <a:srgbClr val="F4F7F8"/>
          </a:solidFill>
          <a:ln>
            <a:noFill/>
          </a:ln>
        </p:spPr>
        <p:txBody>
          <a:bodyPr wrap="square" lIns="274320" tIns="90000" rIns="274320" bIns="60000" anchor="ctr"/>
          <a:lstStyle/>
          <a:p>
            <a:pPr algn="r" marL="0">
              <a:spcBef>
                <a:spcPts val="0"/>
              </a:spcBef>
              <a:spcAft>
                <a:spcPts val="0"/>
              </a:spcAft>
            </a:pPr>
            <a:r>
              <a:rPr lang="ko-KR" sz="1200" dirty="0">
                <a:solidFill>
                  <a:srgbClr val="5C6B73"/>
                </a:solidFill>
                <a:latin typeface="Malgun Gothic"/>
                <a:ea typeface="Malgun Gothic"/>
                <a:cs typeface="Malgun Gothic"/>
              </a:rPr>
              <a:t>가상 실습 · 인증 발표 아님 · 공개 화면은 evidence/sanitized</a:t>
            </a:r>
          </a:p>
        </p:txBody>
      </p:sp>
    </p:spTree>
  </p:cSld>
  <p:clrMapOvr>
    <a:masterClrMapping/>
  </p:clrMapOvr>
</p:sld>
</file>

<file path=ppt/theme/theme1.xml><?xml version="1.0" encoding="utf-8"?>
<a:theme xmlns:a="http://schemas.openxmlformats.org/drawingml/2006/main" name="JY">
  <a:themeElements>
    <a:clrScheme name="JY">
      <a:dk1>
        <a:srgbClr val="243038"/>
      </a:dk1>
      <a:lt1>
        <a:srgbClr val="FFFFFF"/>
      </a:lt1>
      <a:dk2>
        <a:srgbClr val="1B3A4B"/>
      </a:dk2>
      <a:lt2>
        <a:srgbClr val="F4F7F8"/>
      </a:lt2>
      <a:accent1>
        <a:srgbClr val="1B3A4B"/>
      </a:accent1>
      <a:accent2>
        <a:srgbClr val="5C6B73"/>
      </a:accent2>
      <a:accent3>
        <a:srgbClr val="8A5A2A"/>
      </a:accent3>
      <a:accent4>
        <a:srgbClr val="1B3A4B"/>
      </a:accent4>
      <a:accent5>
        <a:srgbClr val="5C6B73"/>
      </a:accent5>
      <a:accent6>
        <a:srgbClr val="243038"/>
      </a:accent6>
      <a:hlink>
        <a:srgbClr val="1B3A4B"/>
      </a:hlink>
      <a:folHlink>
        <a:srgbClr val="5C6B73"/>
      </a:folHlink>
    </a:clrScheme>
    <a:fontScheme name="JY">
      <a:majorFont>
        <a:latin typeface="Malgun Gothic"/>
        <a:ea typeface="Malgun Gothic"/>
        <a:cs typeface="Malgun Gothic"/>
      </a:majorFont>
      <a:minorFont>
        <a:latin typeface="Malgun Gothic"/>
        <a:ea typeface="Malgun Gothic"/>
        <a:cs typeface="Malgun Gothic"/>
      </a:minorFont>
    </a:fontScheme>
    <a:fmtScheme name="JY">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JY briefing</Application>
  <Slides>7</Slides>
  <PresentationFormat>Widescreen</PresentationFormat>
</Properties>
</file>

<file path=docProps/core.xml><?xml version="1.0" encoding="utf-8"?>
<cp:coreProperties xmlns:cp="http://schemas.openxmlformats.org/package/2006/metadata/core-properties" xmlns:dc="http://purl.org/dc/elements/1.1/" xmlns:dcterms="http://purl.org/dc/terms/" xmlns:xsi="http://www.w3.org/2001/XMLSchema-instance">
  <dc:title>JY Group 상담 시스템 개인정보 진단</dc:title>
  <dc:creator>김준영</dc:creator>
  <cp:lastModifiedBy>수행자</cp:lastModifiedBy>
  <dcterms:created xsi:type="dcterms:W3CDTF">2026-10-19T02:10:00Z</dcterms:created>
  <dcterms:modified xsi:type="dcterms:W3CDTF">2026-10-19T02:10:00Z</dcterms:modified>
</cp:coreProperties>
</file>