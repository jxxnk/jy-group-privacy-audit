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Lst>
  <p:sldSz cx="12192000" cy="6858000" type="screen16x9"/>
  <p:notesSz cx="6858000" cy="9144000"/>
</p:presentation>
</file>

<file path=ppt/presProps.xml><?xml version="1.0" encoding="utf-8"?>
<p:presentationPr xmlns:p="http://schemas.openxmlformats.org/presentationml/2006/main"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cSldViewPr>
  </p:slideViewPr>
  <p:notesTextViewPr>
    <p:cViewPr>
      <p:scale>
        <a:sx n="100" d="100"/>
        <a:sy n="100" d="100"/>
      </p:scale>
      <p:origin x="0" y="0"/>
    </p:cViewPr>
  </p:notesText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presProps" Target="presProps.xml"/>
  <Relationship Id="rId11" Type="http://schemas.openxmlformats.org/officeDocument/2006/relationships/viewProps" Target="viewProps.xml"/>
  <Relationship Id="rId12" Type="http://schemas.openxmlformats.org/officeDocument/2006/relationships/tableStyles" Target="tableStyle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endParaRPr lang="ko-K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이 실습은 상담 티켓에 남는 개인정보를 로컬 Zammad 한 대로 본 것입니다. 서버를 여러 대 두지 않은 이유는 범위가 상담 흐름 하나이기 때문입니다. 실제 감사나 인증이 아니고, 가이드 PDF를 결과로 내지 않습니다.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포함은 Retail의 목적 결정, Service의 상담, Vendor의 유지보수입니다. 결제와 배송, 마케팅, 백업 실측은 빼었습니다. 직원은 여섯 명이고, 고객은 C01을 지우기 전 열 명입니다. 재점검이 맞아도 처음의 미흡 판정은 지우지 않습니다.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판정은 네 가지입니다. 워크북 스물네 행을 화면 시험 세 건으로 확인했습니다. 수집기는 이 컴퓨터의 localhost만 호출하고, 토큰은 출력하지 않습니다. 화면 원본은 비공개 폴더에 있고 여기에는 증적 번호만 말합니다. 파기, 위탁 감독, 안전조치와 접근권한은 조문을 적었고 고시 제4조는 비워 두었습니다.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종료된 S05가 활성 상태로 T02를 열었습니다. 계정을 끄고 새 로그인은 막았습니다. 재점검은 적합입니다. 다만 이미 열려 있던 세션을 걷어냈는지는 화면에서 확인하지 못했습니다. 그래서 Checks C02는 미흡으로 남습니다.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일반 상담과 유지보수가 제한 티켓을 봤고, 다른 고객이 공유 조직에서 티켓을 봤습니다. 그룹을 걷고 공유를 껐습니다. 상담 리더의 제한 권한은 설계상 유지합니다. 재점검은 적합이고, 처음의 권한과 위탁 점검 기록은 미흡으로 남습니다.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자료 보안으로 본인 티켓 둘은 지워졌습니다. 참조 티켓 T12와 PC에 받은 사본은 남았고, T15는 보존합니다. 그래서 재점검은 미흡입니다. T12는 증적이라 미리보기 한 건 전에는 지우지 않습니다.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marL="0">
              <a:spcBef>
                <a:spcPts val="40"/>
              </a:spcBef>
              <a:spcAft>
                <a:spcPts val="80"/>
              </a:spcAft>
            </a:pPr>
            <a:r>
              <a:rPr lang="ko-KR" sz="1400" dirty="0">
                <a:solidFill>
                  <a:srgbClr val="243038"/>
                </a:solidFill>
                <a:latin typeface="Malgun Gothic"/>
                <a:ea typeface="Malgun Gothic"/>
                <a:cs typeface="Malgun Gothic"/>
              </a:rPr>
              <a:t>권리 메일과 백업은 미확인입니다. 교육 서명과 수탁 연간 실적도 미흡입니다. 브랜치는 올렸고 PR과 태그는 없습니다. 다음은 T12를 미리보기 한 건 뒤에만 결정하는 것입니다.</a:t>
            </a:r>
          </a:p>
          <a:p>
            <a:pPr algn="l" marL="0">
              <a:spcBef>
                <a:spcPts val="80"/>
              </a:spcBef>
              <a:spcAft>
                <a:spcPts val="40"/>
              </a:spcAft>
            </a:pPr>
            <a:r>
              <a:rPr lang="ko-KR" sz="1400" b="1" dirty="0">
                <a:solidFill>
                  <a:srgbClr val="1B3A4B"/>
                </a:solidFill>
                <a:latin typeface="Malgun Gothic"/>
                <a:ea typeface="Malgun Gothic"/>
                <a:cs typeface="Malgun Gothic"/>
              </a:rPr>
              <a:t>예상 질문</a:t>
            </a:r>
          </a:p>
          <a:p>
            <a:pPr algn="l" marL="0">
              <a:spcBef>
                <a:spcPts val="20"/>
              </a:spcBef>
              <a:spcAft>
                <a:spcPts val="20"/>
              </a:spcAft>
            </a:pPr>
            <a:r>
              <a:rPr lang="ko-KR" sz="1300" dirty="0">
                <a:solidFill>
                  <a:srgbClr val="243038"/>
                </a:solidFill>
                <a:latin typeface="Malgun Gothic"/>
                <a:ea typeface="Malgun Gothic"/>
                <a:cs typeface="Malgun Gothic"/>
              </a:rPr>
              <a:t>왜 Zammad 한 대인가. 상담 흐름 하나만 범위로 잡았기 때문이다. 재점검이 적합인데 Checks가 미흡인 이유. 재점검은 조치 후이고 Checks는 처음 발견을 유지한다. 고객을 지운 뒤에도 F-03이 미흡인 이유. T12와 로컬 사본이 남았기 때문이다. 수집기를 어떻게 신뢰했는가. localhost GET과 화면 증적을 대조했고 토큰은 출력하지 않는다. 백업과 Sessions를 미확인으로 남긴 이유. 범위 밖이거나 화면에서 확인하지 못했다. 실제 기업 감사와 다른 점. 가상 계정이고 실제 신고와 메일이 없으며 인증 결과가 아니다.</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문제 선택의 배경</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1 / 7  ·  가상 실습  ·  2026-10-07  ·  김준영</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상담 티켓에 이름, 이메일, 문의, 첨부가 남는다.</a:t>
            </a:r>
          </a:p>
          <a:p>
            <a:pPr algn="l" marL="0">
              <a:spcBef>
                <a:spcPts val="80"/>
              </a:spcBef>
              <a:spcAft>
                <a:spcPts val="80"/>
              </a:spcAft>
            </a:pPr>
            <a:r>
              <a:rPr lang="ko-KR" sz="2000" dirty="0">
                <a:solidFill>
                  <a:srgbClr val="243038"/>
                </a:solidFill>
                <a:latin typeface="Malgun Gothic"/>
                <a:ea typeface="Malgun Gothic"/>
                <a:cs typeface="Malgun Gothic"/>
              </a:rPr>
              <a:t>·  범위는 로컬 Zammad 한 대다. 서버를 여러 대로 두지 않았다.</a:t>
            </a:r>
          </a:p>
          <a:p>
            <a:pPr algn="l" marL="0">
              <a:spcBef>
                <a:spcPts val="80"/>
              </a:spcBef>
              <a:spcAft>
                <a:spcPts val="80"/>
              </a:spcAft>
            </a:pPr>
            <a:r>
              <a:rPr lang="ko-KR" sz="2000" dirty="0">
                <a:solidFill>
                  <a:srgbClr val="243038"/>
                </a:solidFill>
                <a:latin typeface="Malgun Gothic"/>
                <a:ea typeface="Malgun Gothic"/>
                <a:cs typeface="Malgun Gothic"/>
              </a:rPr>
              <a:t>·  목적 결정은 Retail, 상담은 Service, 유지보수는 Vendor다.</a:t>
            </a:r>
          </a:p>
          <a:p>
            <a:pPr algn="l" marL="0">
              <a:spcBef>
                <a:spcPts val="80"/>
              </a:spcBef>
              <a:spcAft>
                <a:spcPts val="80"/>
              </a:spcAft>
            </a:pPr>
            <a:r>
              <a:rPr lang="ko-KR" sz="2000" dirty="0">
                <a:solidFill>
                  <a:srgbClr val="243038"/>
                </a:solidFill>
                <a:latin typeface="Malgun Gothic"/>
                <a:ea typeface="Malgun Gothic"/>
                <a:cs typeface="Malgun Gothic"/>
              </a:rPr>
              <a:t>·  이 발표는 실제 기업 감사와 인증이 아니다.</a:t>
            </a:r>
          </a:p>
          <a:p>
            <a:pPr algn="l" marL="0">
              <a:spcBef>
                <a:spcPts val="80"/>
              </a:spcBef>
              <a:spcAft>
                <a:spcPts val="80"/>
              </a:spcAft>
            </a:pPr>
            <a:r>
              <a:rPr lang="ko-KR" sz="2000" dirty="0">
                <a:solidFill>
                  <a:srgbClr val="243038"/>
                </a:solidFill>
                <a:latin typeface="Malgun Gothic"/>
                <a:ea typeface="Malgun Gothic"/>
                <a:cs typeface="Malgun Gothic"/>
              </a:rPr>
              <a:t>·  가이드 PDF는 결과 보고서가 아니다.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고객, 흐름, 범위</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2 / 7  ·  포함과 제외</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포함: 상담 목적, 상담 수행, 유지보수 권한.</a:t>
            </a:r>
          </a:p>
          <a:p>
            <a:pPr algn="l" marL="0">
              <a:spcBef>
                <a:spcPts val="80"/>
              </a:spcBef>
              <a:spcAft>
                <a:spcPts val="80"/>
              </a:spcAft>
            </a:pPr>
            <a:r>
              <a:rPr lang="ko-KR" sz="2000" dirty="0">
                <a:solidFill>
                  <a:srgbClr val="243038"/>
                </a:solidFill>
                <a:latin typeface="Malgun Gothic"/>
                <a:ea typeface="Malgun Gothic"/>
                <a:cs typeface="Malgun Gothic"/>
              </a:rPr>
              <a:t>·  제외: 결제, 배송, 마케팅, 백업 복구 실측.</a:t>
            </a:r>
          </a:p>
          <a:p>
            <a:pPr algn="l" marL="0">
              <a:spcBef>
                <a:spcPts val="80"/>
              </a:spcBef>
              <a:spcAft>
                <a:spcPts val="80"/>
              </a:spcAft>
            </a:pPr>
            <a:r>
              <a:rPr lang="ko-KR" sz="2000" dirty="0">
                <a:solidFill>
                  <a:srgbClr val="243038"/>
                </a:solidFill>
                <a:latin typeface="Malgun Gothic"/>
                <a:ea typeface="Malgun Gothic"/>
                <a:cs typeface="Malgun Gothic"/>
              </a:rPr>
              <a:t>·  직원 6명. 고객은 삭제 전 10명, C01 삭제 후 9명.</a:t>
            </a:r>
          </a:p>
          <a:p>
            <a:pPr algn="l" marL="0">
              <a:spcBef>
                <a:spcPts val="80"/>
              </a:spcBef>
              <a:spcAft>
                <a:spcPts val="80"/>
              </a:spcAft>
            </a:pPr>
            <a:r>
              <a:rPr lang="ko-KR" sz="2000" dirty="0">
                <a:solidFill>
                  <a:srgbClr val="243038"/>
                </a:solidFill>
                <a:latin typeface="Malgun Gothic"/>
                <a:ea typeface="Malgun Gothic"/>
                <a:cs typeface="Malgun Gothic"/>
              </a:rPr>
              <a:t>·  T02는 3번 52003. T11 시험본은 29번 52028.</a:t>
            </a:r>
          </a:p>
          <a:p>
            <a:pPr algn="l" marL="0">
              <a:spcBef>
                <a:spcPts val="80"/>
              </a:spcBef>
              <a:spcAft>
                <a:spcPts val="80"/>
              </a:spcAft>
            </a:pPr>
            <a:r>
              <a:rPr lang="ko-KR" sz="2000" dirty="0">
                <a:solidFill>
                  <a:srgbClr val="243038"/>
                </a:solidFill>
                <a:latin typeface="Malgun Gothic"/>
                <a:ea typeface="Malgun Gothic"/>
                <a:cs typeface="Malgun Gothic"/>
              </a:rPr>
              <a:t>·  T12는 14번 52014. T15는 17번 52017.</a:t>
            </a:r>
          </a:p>
          <a:p>
            <a:pPr algn="l" marL="0">
              <a:spcBef>
                <a:spcPts val="80"/>
              </a:spcBef>
              <a:spcAft>
                <a:spcPts val="80"/>
              </a:spcAft>
            </a:pPr>
            <a:r>
              <a:rPr lang="ko-KR" sz="2000" dirty="0">
                <a:solidFill>
                  <a:srgbClr val="243038"/>
                </a:solidFill>
                <a:latin typeface="Malgun Gothic"/>
                <a:ea typeface="Malgun Gothic"/>
                <a:cs typeface="Malgun Gothic"/>
              </a:rPr>
              <a:t>·  재점검이 적합이어도 처음의 Checks 미흡은 유지한다.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기준, 방법, 증적</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3 / 7  ·  워크북과 화면 시험</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판정은 적합, 미흡, 미확인, 적용 제외다.</a:t>
            </a:r>
          </a:p>
          <a:p>
            <a:pPr algn="l" marL="0">
              <a:spcBef>
                <a:spcPts val="80"/>
              </a:spcBef>
              <a:spcAft>
                <a:spcPts val="80"/>
              </a:spcAft>
            </a:pPr>
            <a:r>
              <a:rPr lang="ko-KR" sz="2000" dirty="0">
                <a:solidFill>
                  <a:srgbClr val="243038"/>
                </a:solidFill>
                <a:latin typeface="Malgun Gothic"/>
                <a:ea typeface="Malgun Gothic"/>
                <a:cs typeface="Malgun Gothic"/>
              </a:rPr>
              <a:t>·  워크북 Checks는 24행이다. 화면 시험은 F-01, F-02, F-03이다.</a:t>
            </a:r>
          </a:p>
          <a:p>
            <a:pPr algn="l" marL="0">
              <a:spcBef>
                <a:spcPts val="80"/>
              </a:spcBef>
              <a:spcAft>
                <a:spcPts val="80"/>
              </a:spcAft>
            </a:pPr>
            <a:r>
              <a:rPr lang="ko-KR" sz="2000" dirty="0">
                <a:solidFill>
                  <a:srgbClr val="243038"/>
                </a:solidFill>
                <a:latin typeface="Malgun Gothic"/>
                <a:ea typeface="Malgun Gothic"/>
                <a:cs typeface="Malgun Gothic"/>
              </a:rPr>
              <a:t>·  수집기는 localhost GET만 한다. 이메일은 .example.test다.</a:t>
            </a:r>
          </a:p>
          <a:p>
            <a:pPr algn="l" marL="0">
              <a:spcBef>
                <a:spcPts val="80"/>
              </a:spcBef>
              <a:spcAft>
                <a:spcPts val="80"/>
              </a:spcAft>
            </a:pPr>
            <a:r>
              <a:rPr lang="ko-KR" sz="2000" dirty="0">
                <a:solidFill>
                  <a:srgbClr val="243038"/>
                </a:solidFill>
                <a:latin typeface="Malgun Gothic"/>
                <a:ea typeface="Malgun Gothic"/>
                <a:cs typeface="Malgun Gothic"/>
              </a:rPr>
              <a:t>·  원본 증적은 C:\JY-Lab\private-evidence 에 둔다. 발표에는 증적 ID만 말한다.</a:t>
            </a:r>
          </a:p>
          <a:p>
            <a:pPr algn="l" marL="0">
              <a:spcBef>
                <a:spcPts val="80"/>
              </a:spcBef>
              <a:spcAft>
                <a:spcPts val="80"/>
              </a:spcAft>
            </a:pPr>
            <a:r>
              <a:rPr lang="ko-KR" sz="2000" dirty="0">
                <a:solidFill>
                  <a:srgbClr val="243038"/>
                </a:solidFill>
                <a:latin typeface="Malgun Gothic"/>
                <a:ea typeface="Malgun Gothic"/>
                <a:cs typeface="Malgun Gothic"/>
              </a:rPr>
              <a:t>·  법령은 법 제21조 제1항과 제2항, 제26조 제4항과 제5항, 제29조, 영 제30조 제1항 제2호다.</a:t>
            </a:r>
          </a:p>
          <a:p>
            <a:pPr algn="l" marL="0">
              <a:spcBef>
                <a:spcPts val="80"/>
              </a:spcBef>
              <a:spcAft>
                <a:spcPts val="80"/>
              </a:spcAft>
            </a:pPr>
            <a:r>
              <a:rPr lang="ko-KR" sz="2000" dirty="0">
                <a:solidFill>
                  <a:srgbClr val="243038"/>
                </a:solidFill>
                <a:latin typeface="Malgun Gothic"/>
                <a:ea typeface="Malgun Gothic"/>
                <a:cs typeface="Malgun Gothic"/>
              </a:rPr>
              <a:t>·  고시 제4조는 비어 있다. 추측으로 채우지 않았다.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F-01  종료 계정</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4 / 7  ·  재점검 R-01 적합  ·  Checks C02 미흡</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S05는 종료일 2026-09-14 이후에도 Active였고 T02를 열람했다.</a:t>
            </a:r>
          </a:p>
          <a:p>
            <a:pPr algn="l" marL="0">
              <a:spcBef>
                <a:spcPts val="80"/>
              </a:spcBef>
              <a:spcAft>
                <a:spcPts val="80"/>
              </a:spcAft>
            </a:pPr>
            <a:r>
              <a:rPr lang="ko-KR" sz="2000" dirty="0">
                <a:solidFill>
                  <a:srgbClr val="243038"/>
                </a:solidFill>
                <a:latin typeface="Malgun Gothic"/>
                <a:ea typeface="Malgun Gothic"/>
                <a:cs typeface="Malgun Gothic"/>
              </a:rPr>
              <a:t>·  조치 A-01: Active=false. 새 로그인을 차단했다.</a:t>
            </a:r>
          </a:p>
          <a:p>
            <a:pPr algn="l" marL="0">
              <a:spcBef>
                <a:spcPts val="80"/>
              </a:spcBef>
              <a:spcAft>
                <a:spcPts val="80"/>
              </a:spcAft>
            </a:pPr>
            <a:r>
              <a:rPr lang="ko-KR" sz="2000" dirty="0">
                <a:solidFill>
                  <a:srgbClr val="243038"/>
                </a:solidFill>
                <a:latin typeface="Malgun Gothic"/>
                <a:ea typeface="Malgun Gothic"/>
                <a:cs typeface="Malgun Gothic"/>
              </a:rPr>
              <a:t>·  재점검 R-01은 적합이다.</a:t>
            </a:r>
          </a:p>
          <a:p>
            <a:pPr algn="l" marL="0">
              <a:spcBef>
                <a:spcPts val="80"/>
              </a:spcBef>
              <a:spcAft>
                <a:spcPts val="80"/>
              </a:spcAft>
            </a:pPr>
            <a:r>
              <a:rPr lang="ko-KR" sz="2000" dirty="0">
                <a:solidFill>
                  <a:srgbClr val="243038"/>
                </a:solidFill>
                <a:latin typeface="Malgun Gothic"/>
                <a:ea typeface="Malgun Gothic"/>
                <a:cs typeface="Malgun Gothic"/>
              </a:rPr>
              <a:t>·  증적: E-F01-B01, E-F01-A01, JSON-F01-DIFF.</a:t>
            </a:r>
          </a:p>
          <a:p>
            <a:pPr algn="l" marL="0">
              <a:spcBef>
                <a:spcPts val="80"/>
              </a:spcBef>
              <a:spcAft>
                <a:spcPts val="80"/>
              </a:spcAft>
            </a:pPr>
            <a:r>
              <a:rPr lang="ko-KR" sz="2000" dirty="0">
                <a:solidFill>
                  <a:srgbClr val="243038"/>
                </a:solidFill>
                <a:latin typeface="Malgun Gothic"/>
                <a:ea typeface="Malgun Gothic"/>
                <a:cs typeface="Malgun Gothic"/>
              </a:rPr>
              <a:t>·  남김: Checks C02는 미흡이다. 기존 Sessions 회수는 미확인이다.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F-02  최소권한</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5 / 7  ·  R-02a, R-02b 적합  ·  C03, C04, D02 미흡</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S04와 S06이 제한상담 T11, 29번 52028을 열람했다.</a:t>
            </a:r>
          </a:p>
          <a:p>
            <a:pPr algn="l" marL="0">
              <a:spcBef>
                <a:spcPts val="80"/>
              </a:spcBef>
              <a:spcAft>
                <a:spcPts val="80"/>
              </a:spcAft>
            </a:pPr>
            <a:r>
              <a:rPr lang="ko-KR" sz="2000" dirty="0">
                <a:solidFill>
                  <a:srgbClr val="243038"/>
                </a:solidFill>
                <a:latin typeface="Malgun Gothic"/>
                <a:ea typeface="Malgun Gothic"/>
                <a:cs typeface="Malgun Gothic"/>
              </a:rPr>
              <a:t>·  C02는 공유 조직에서 C01의 T01을 열람했다.</a:t>
            </a:r>
          </a:p>
          <a:p>
            <a:pPr algn="l" marL="0">
              <a:spcBef>
                <a:spcPts val="80"/>
              </a:spcBef>
              <a:spcAft>
                <a:spcPts val="80"/>
              </a:spcAft>
            </a:pPr>
            <a:r>
              <a:rPr lang="ko-KR" sz="2000" dirty="0">
                <a:solidFill>
                  <a:srgbClr val="243038"/>
                </a:solidFill>
                <a:latin typeface="Malgun Gothic"/>
                <a:ea typeface="Malgun Gothic"/>
                <a:cs typeface="Malgun Gothic"/>
              </a:rPr>
              <a:t>·  조치: S04는 General만, S06은 그룹이 없고, 공유는 아니오. S03 Restricted는 유지.</a:t>
            </a:r>
          </a:p>
          <a:p>
            <a:pPr algn="l" marL="0">
              <a:spcBef>
                <a:spcPts val="80"/>
              </a:spcBef>
              <a:spcAft>
                <a:spcPts val="80"/>
              </a:spcAft>
            </a:pPr>
            <a:r>
              <a:rPr lang="ko-KR" sz="2000" dirty="0">
                <a:solidFill>
                  <a:srgbClr val="243038"/>
                </a:solidFill>
                <a:latin typeface="Malgun Gothic"/>
                <a:ea typeface="Malgun Gothic"/>
                <a:cs typeface="Malgun Gothic"/>
              </a:rPr>
              <a:t>·  재점검 R-02a와 R-02b는 적합이다.</a:t>
            </a:r>
          </a:p>
          <a:p>
            <a:pPr algn="l" marL="0">
              <a:spcBef>
                <a:spcPts val="80"/>
              </a:spcBef>
              <a:spcAft>
                <a:spcPts val="80"/>
              </a:spcAft>
            </a:pPr>
            <a:r>
              <a:rPr lang="ko-KR" sz="2000" dirty="0">
                <a:solidFill>
                  <a:srgbClr val="243038"/>
                </a:solidFill>
                <a:latin typeface="Malgun Gothic"/>
                <a:ea typeface="Malgun Gothic"/>
                <a:cs typeface="Malgun Gothic"/>
              </a:rPr>
              <a:t>·  증적: E-F02-A01, E-F02-A02, E-F02-A03.</a:t>
            </a:r>
          </a:p>
          <a:p>
            <a:pPr algn="l" marL="0">
              <a:spcBef>
                <a:spcPts val="80"/>
              </a:spcBef>
              <a:spcAft>
                <a:spcPts val="80"/>
              </a:spcAft>
            </a:pPr>
            <a:r>
              <a:rPr lang="ko-KR" sz="2000" dirty="0">
                <a:solidFill>
                  <a:srgbClr val="243038"/>
                </a:solidFill>
                <a:latin typeface="Malgun Gothic"/>
                <a:ea typeface="Malgun Gothic"/>
                <a:cs typeface="Malgun Gothic"/>
              </a:rPr>
              <a:t>·  남김: C03, C04, D02는 미흡이다.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F-03  파기 범위</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6 / 7  ·  E02 적합  ·  R-03 미흡</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C01 자료 보안으로 T01과 T11은 삭제됐다. E02는 적합이다.</a:t>
            </a:r>
          </a:p>
          <a:p>
            <a:pPr algn="l" marL="0">
              <a:spcBef>
                <a:spcPts val="80"/>
              </a:spcBef>
              <a:spcAft>
                <a:spcPts val="80"/>
              </a:spcAft>
            </a:pPr>
            <a:r>
              <a:rPr lang="ko-KR" sz="2000" dirty="0">
                <a:solidFill>
                  <a:srgbClr val="243038"/>
                </a:solidFill>
                <a:latin typeface="Malgun Gothic"/>
                <a:ea typeface="Malgun Gothic"/>
                <a:cs typeface="Malgun Gothic"/>
              </a:rPr>
              <a:t>·  T12 마커와 jy-doc02 로컬 사본은 남았다. T15는 보존한다.</a:t>
            </a:r>
          </a:p>
          <a:p>
            <a:pPr algn="l" marL="0">
              <a:spcBef>
                <a:spcPts val="80"/>
              </a:spcBef>
              <a:spcAft>
                <a:spcPts val="80"/>
              </a:spcAft>
            </a:pPr>
            <a:r>
              <a:rPr lang="ko-KR" sz="2000" dirty="0">
                <a:solidFill>
                  <a:srgbClr val="243038"/>
                </a:solidFill>
                <a:latin typeface="Malgun Gothic"/>
                <a:ea typeface="Malgun Gothic"/>
                <a:cs typeface="Malgun Gothic"/>
              </a:rPr>
              <a:t>·  재점검 R-03은 미흡이다. T12는 증적이라 삭제하지 않았다. A-03은 예정이다.</a:t>
            </a:r>
          </a:p>
          <a:p>
            <a:pPr algn="l" marL="0">
              <a:spcBef>
                <a:spcPts val="80"/>
              </a:spcBef>
              <a:spcAft>
                <a:spcPts val="80"/>
              </a:spcAft>
            </a:pPr>
            <a:r>
              <a:rPr lang="ko-KR" sz="2000" dirty="0">
                <a:solidFill>
                  <a:srgbClr val="243038"/>
                </a:solidFill>
                <a:latin typeface="Malgun Gothic"/>
                <a:ea typeface="Malgun Gothic"/>
                <a:cs typeface="Malgun Gothic"/>
              </a:rPr>
              <a:t>·  증적: E-F03-A01, E-F03-A02, E-D03-A01.</a:t>
            </a:r>
          </a:p>
          <a:p>
            <a:pPr algn="l" marL="0">
              <a:spcBef>
                <a:spcPts val="80"/>
              </a:spcBef>
              <a:spcAft>
                <a:spcPts val="80"/>
              </a:spcAft>
            </a:pPr>
            <a:r>
              <a:rPr lang="ko-KR" sz="2000" dirty="0">
                <a:solidFill>
                  <a:srgbClr val="243038"/>
                </a:solidFill>
                <a:latin typeface="Malgun Gothic"/>
                <a:ea typeface="Malgun Gothic"/>
                <a:cs typeface="Malgun Gothic"/>
              </a:rPr>
              <a:t>·  남김: E03, D03, F04는 미흡이다.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80000"/>
          </a:xfrm>
          <a:prstGeom prst="rect">
            <a:avLst/>
          </a:prstGeom>
          <a:solidFill>
            <a:srgbClr val="1B3A4B"/>
          </a:solidFill>
          <a:ln>
            <a:noFill/>
          </a:ln>
        </p:spPr>
        <p:txBody>
          <a:bodyPr wrap="square" lIns="274320" tIns="90000" rIns="274320" bIns="60000" anchor="ctr"/>
          <a:lstStyle/>
          <a:p>
            <a:pPr algn="l" marL="0">
              <a:spcBef>
                <a:spcPts val="0"/>
              </a:spcBef>
              <a:spcAft>
                <a:spcPts val="0"/>
              </a:spcAft>
            </a:pPr>
            <a:r>
              <a:rPr lang="ko-KR" sz="3200" b="1" dirty="0">
                <a:solidFill>
                  <a:srgbClr val="FFFFFF"/>
                </a:solidFill>
                <a:latin typeface="Malgun Gothic"/>
                <a:ea typeface="Malgun Gothic"/>
                <a:cs typeface="Malgun Gothic"/>
              </a:rPr>
              <a:t>결과, 잔여위험, 회고</a:t>
            </a:r>
          </a:p>
        </p:txBody>
      </p:sp>
      <p:sp>
        <p:nvSpPr>
          <p:cNvPr id="3" name="Kicker"/>
          <p:cNvSpPr/>
          <p:nvPr/>
        </p:nvSpPr>
        <p:spPr>
          <a:xfrm>
            <a:off x="420000" y="1080000"/>
            <a:ext cx="11300000" cy="360000"/>
          </a:xfrm>
          <a:prstGeom prst="rect">
            <a:avLst/>
          </a:prstGeom>
          <a:noFill/>
          <a:ln>
            <a:noFill/>
          </a:ln>
        </p:spPr>
        <p:txBody>
          <a:bodyPr wrap="square" lIns="274320" tIns="90000" rIns="274320" bIns="60000" anchor="ctr"/>
          <a:lstStyle/>
          <a:p>
            <a:pPr algn="l" marL="0">
              <a:spcBef>
                <a:spcPts val="0"/>
              </a:spcBef>
              <a:spcAft>
                <a:spcPts val="0"/>
              </a:spcAft>
            </a:pPr>
            <a:r>
              <a:rPr lang="ko-KR" sz="1400" dirty="0">
                <a:solidFill>
                  <a:srgbClr val="5C6B73"/>
                </a:solidFill>
                <a:latin typeface="Malgun Gothic"/>
                <a:ea typeface="Malgun Gothic"/>
                <a:cs typeface="Malgun Gothic"/>
              </a:rPr>
              <a:t>7 / 7  ·  PR과 태그는 아직 없다</a:t>
            </a:r>
          </a:p>
        </p:txBody>
      </p:sp>
      <p:sp>
        <p:nvSpPr>
          <p:cNvPr id="4" name="Body"/>
          <p:cNvSpPr/>
          <p:nvPr/>
        </p:nvSpPr>
        <p:spPr>
          <a:xfrm>
            <a:off x="420000" y="1500000"/>
            <a:ext cx="11300000" cy="4700000"/>
          </a:xfrm>
          <a:prstGeom prst="rect">
            <a:avLst/>
          </a:prstGeom>
          <a:noFill/>
          <a:ln>
            <a:noFill/>
          </a:ln>
        </p:spPr>
        <p:txBody>
          <a:bodyPr wrap="square" lIns="274320" tIns="90000" rIns="274320" bIns="60000" anchor="t"/>
          <a:lstStyle/>
          <a:p>
            <a:pPr algn="l" marL="0">
              <a:spcBef>
                <a:spcPts val="80"/>
              </a:spcBef>
              <a:spcAft>
                <a:spcPts val="80"/>
              </a:spcAft>
            </a:pPr>
            <a:r>
              <a:rPr lang="ko-KR" sz="2000" dirty="0">
                <a:solidFill>
                  <a:srgbClr val="243038"/>
                </a:solidFill>
                <a:latin typeface="Malgun Gothic"/>
                <a:ea typeface="Malgun Gothic"/>
                <a:cs typeface="Malgun Gothic"/>
              </a:rPr>
              <a:t>·  미확인: B04 권리 메일, E04 백업. 모의 기록은 실제 발송이 아니다.</a:t>
            </a:r>
          </a:p>
          <a:p>
            <a:pPr algn="l" marL="0">
              <a:spcBef>
                <a:spcPts val="80"/>
              </a:spcBef>
              <a:spcAft>
                <a:spcPts val="80"/>
              </a:spcAft>
            </a:pPr>
            <a:r>
              <a:rPr lang="ko-KR" sz="2000" dirty="0">
                <a:solidFill>
                  <a:srgbClr val="243038"/>
                </a:solidFill>
                <a:latin typeface="Malgun Gothic"/>
                <a:ea typeface="Malgun Gothic"/>
                <a:cs typeface="Malgun Gothic"/>
              </a:rPr>
              <a:t>·  적용 제외: F03. 외부 AI에 연결하지 않았다.</a:t>
            </a:r>
          </a:p>
          <a:p>
            <a:pPr algn="l" marL="0">
              <a:spcBef>
                <a:spcPts val="80"/>
              </a:spcBef>
              <a:spcAft>
                <a:spcPts val="80"/>
              </a:spcAft>
            </a:pPr>
            <a:r>
              <a:rPr lang="ko-KR" sz="2000" dirty="0">
                <a:solidFill>
                  <a:srgbClr val="243038"/>
                </a:solidFill>
                <a:latin typeface="Malgun Gothic"/>
                <a:ea typeface="Malgun Gothic"/>
                <a:cs typeface="Malgun Gothic"/>
              </a:rPr>
              <a:t>·  D01 수탁 연간 실적과 D04 교육 서명은 미흡이다. 양식만 있다.</a:t>
            </a:r>
          </a:p>
          <a:p>
            <a:pPr algn="l" marL="0">
              <a:spcBef>
                <a:spcPts val="80"/>
              </a:spcBef>
              <a:spcAft>
                <a:spcPts val="80"/>
              </a:spcAft>
            </a:pPr>
            <a:r>
              <a:rPr lang="ko-KR" sz="2000" dirty="0">
                <a:solidFill>
                  <a:srgbClr val="243038"/>
                </a:solidFill>
                <a:latin typeface="Malgun Gothic"/>
                <a:ea typeface="Malgun Gothic"/>
                <a:cs typeface="Malgun Gothic"/>
              </a:rPr>
              <a:t>·  브랜치 docs/closeout-deliverables-02 는 푸시했다. PR, 태그, Release는 없다.</a:t>
            </a:r>
          </a:p>
          <a:p>
            <a:pPr algn="l" marL="0">
              <a:spcBef>
                <a:spcPts val="80"/>
              </a:spcBef>
              <a:spcAft>
                <a:spcPts val="80"/>
              </a:spcAft>
            </a:pPr>
            <a:r>
              <a:rPr lang="ko-KR" sz="2000" dirty="0">
                <a:solidFill>
                  <a:srgbClr val="243038"/>
                </a:solidFill>
                <a:latin typeface="Malgun Gothic"/>
                <a:ea typeface="Malgun Gothic"/>
                <a:cs typeface="Malgun Gothic"/>
              </a:rPr>
              <a:t>·  다음: T12는 Scheduler 미리보기 1건 뒤에만 결정한다. down -v 는 하지 않는다.</a:t>
            </a:r>
          </a:p>
        </p:txBody>
      </p:sp>
      <p:sp>
        <p:nvSpPr>
          <p:cNvPr id="5" name="Footer"/>
          <p:cNvSpPr/>
          <p:nvPr/>
        </p:nvSpPr>
        <p:spPr>
          <a:xfrm>
            <a:off x="0" y="6400000"/>
            <a:ext cx="12192000" cy="458000"/>
          </a:xfrm>
          <a:prstGeom prst="rect">
            <a:avLst/>
          </a:prstGeom>
          <a:solidFill>
            <a:srgbClr val="F4F7F8"/>
          </a:solidFill>
          <a:ln>
            <a:noFill/>
          </a:ln>
        </p:spPr>
        <p:txBody>
          <a:bodyPr wrap="square" lIns="274320" tIns="90000" rIns="274320" bIns="60000" anchor="ctr"/>
          <a:lstStyle/>
          <a:p>
            <a:pPr algn="r" marL="0">
              <a:spcBef>
                <a:spcPts val="0"/>
              </a:spcBef>
              <a:spcAft>
                <a:spcPts val="0"/>
              </a:spcAft>
            </a:pPr>
            <a:r>
              <a:rPr lang="ko-KR" sz="1200" dirty="0">
                <a:solidFill>
                  <a:srgbClr val="5C6B73"/>
                </a:solidFill>
                <a:latin typeface="Malgun Gothic"/>
                <a:ea typeface="Malgun Gothic"/>
                <a:cs typeface="Malgun Gothic"/>
              </a:rPr>
              <a:t>가상 실습  ·  인증 발표 아님  ·  스크린샷 없음  ·  증적 ID만 표시</a:t>
            </a:r>
          </a:p>
        </p:txBody>
      </p:sp>
    </p:spTree>
  </p:cSld>
  <p:clrMapOvr>
    <a:masterClrMapping/>
  </p:clrMapOvr>
</p:sld>
</file>

<file path=ppt/theme/theme1.xml><?xml version="1.0" encoding="utf-8"?>
<a:theme xmlns:a="http://schemas.openxmlformats.org/drawingml/2006/main" name="JY">
  <a:themeElements>
    <a:clrScheme name="JY">
      <a:dk1>
        <a:srgbClr val="243038"/>
      </a:dk1>
      <a:lt1>
        <a:srgbClr val="FFFFFF"/>
      </a:lt1>
      <a:dk2>
        <a:srgbClr val="1B3A4B"/>
      </a:dk2>
      <a:lt2>
        <a:srgbClr val="F4F7F8"/>
      </a:lt2>
      <a:accent1>
        <a:srgbClr val="1B3A4B"/>
      </a:accent1>
      <a:accent2>
        <a:srgbClr val="5C6B73"/>
      </a:accent2>
      <a:accent3>
        <a:srgbClr val="8A5A2A"/>
      </a:accent3>
      <a:accent4>
        <a:srgbClr val="1B3A4B"/>
      </a:accent4>
      <a:accent5>
        <a:srgbClr val="5C6B73"/>
      </a:accent5>
      <a:accent6>
        <a:srgbClr val="243038"/>
      </a:accent6>
      <a:hlink>
        <a:srgbClr val="1B3A4B"/>
      </a:hlink>
      <a:folHlink>
        <a:srgbClr val="5C6B73"/>
      </a:folHlink>
    </a:clrScheme>
    <a:fontScheme name="JY">
      <a:majorFont>
        <a:latin typeface="Malgun Gothic"/>
        <a:ea typeface="Malgun Gothic"/>
        <a:cs typeface="Malgun Gothic"/>
      </a:majorFont>
      <a:minorFont>
        <a:latin typeface="Malgun Gothic"/>
        <a:ea typeface="Malgun Gothic"/>
        <a:cs typeface="Malgun Gothic"/>
      </a:minorFont>
    </a:fontScheme>
    <a:fmtScheme name="JY">
      <a:fillStyleLst>
        <a:solidFill>
          <a:schemeClr val="phClr"/>
        </a:solidFill>
        <a:solidFill>
          <a:schemeClr val="phClr"/>
        </a:solidFill>
        <a:solidFill>
          <a:schemeClr val="phClr"/>
        </a:solidFill>
      </a:fillStyleLst>
      <a:lnStyleLst>
        <a:ln w="6350">
          <a:solidFill>
            <a:schemeClr val="phClr"/>
          </a:solidFill>
        </a:ln>
        <a:ln w="6350">
          <a:solidFill>
            <a:schemeClr val="phClr"/>
          </a:solidFill>
        </a:ln>
        <a:ln w="63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JY briefing</Application>
  <Slides>7</Slides>
  <PresentationFormat>Widescreen</PresentationFormat>
</Properties>
</file>

<file path=docProps/core.xml><?xml version="1.0" encoding="utf-8"?>
<cp:coreProperties xmlns:cp="http://schemas.openxmlformats.org/package/2006/metadata/core-properties" xmlns:dc="http://purl.org/dc/elements/1.1/" xmlns:dcterms="http://purl.org/dc/terms/" xmlns:xsi="http://www.w3.org/2001/XMLSchema-instance">
  <dc:title>JY Group 상담 시스템 개인정보 진단</dc:title>
  <dc:creator>김준영</dc:creator>
  <cp:lastModifiedBy>수행자</cp:lastModifiedBy>
  <dcterms:created xsi:type="dcterms:W3CDTF">2026-10-19T02:10:00Z</dcterms:created>
  <dcterms:modified xsi:type="dcterms:W3CDTF">2026-10-19T02:10:00Z</dcterms:modified>
</cp:coreProperties>
</file>